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puc_camp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746805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384048"/>
            <a:ext cx="4114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181818"/>
                </a:solidFill>
                <a:latin typeface="Calibri"/>
              </a:rPr>
              <a:t>PONTIFÍCIA</a:t>
            </a:r>
          </a:p>
          <a:p>
            <a:pPr>
              <a:lnSpc>
                <a:spcPct val="100000"/>
              </a:lnSpc>
            </a:pPr>
            <a:r>
              <a:rPr sz="1050" b="1" i="0">
                <a:solidFill>
                  <a:srgbClr val="181818"/>
                </a:solidFill>
                <a:latin typeface="Calibri"/>
              </a:rPr>
              <a:t>UNIVERSIDADE</a:t>
            </a:r>
          </a:p>
          <a:p>
            <a:pPr>
              <a:lnSpc>
                <a:spcPct val="100000"/>
              </a:lnSpc>
            </a:pPr>
            <a:r>
              <a:rPr sz="1050" b="1" i="0">
                <a:solidFill>
                  <a:srgbClr val="181818"/>
                </a:solidFill>
                <a:latin typeface="Calibri"/>
              </a:rPr>
              <a:t>CATÓLICA DE CAMPINAS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74175" y="457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181818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8813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3400" b="0" i="0">
                <a:solidFill>
                  <a:srgbClr val="14205E"/>
                </a:solidFill>
                <a:latin typeface="Georgia"/>
              </a:rPr>
              <a:t>Um Aplicativo Móvel para Gerenciamento de Treinos com Detecção da Qualidade de Execução de Exercícios via Visão Computacional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81818"/>
                </a:solidFill>
                <a:latin typeface="Calibri"/>
              </a:rPr>
              <a:t>Orientador</a:t>
            </a:r>
          </a:p>
          <a:p>
            <a:r>
              <a:rPr sz="1400" b="0" i="0">
                <a:solidFill>
                  <a:srgbClr val="1A1F9C"/>
                </a:solidFill>
                <a:latin typeface="Calibri"/>
              </a:rPr>
              <a:t>Antonio Paulo Salgado Forster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562356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81818"/>
                </a:solidFill>
                <a:latin typeface="Calibri"/>
              </a:rPr>
              <a:t>Aluno</a:t>
            </a:r>
          </a:p>
          <a:p>
            <a:r>
              <a:rPr sz="1400" b="0" i="0">
                <a:solidFill>
                  <a:srgbClr val="1A1F9C"/>
                </a:solidFill>
                <a:latin typeface="Calibri"/>
              </a:rPr>
              <a:t>Fernando Bordin Correa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263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TCC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Sumário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I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Introdução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3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II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Objetivos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4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III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Revisão Tecnológica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5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IV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Arquitetura do Sistema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8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V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Detecção de Execução de Exercícios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VI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Implantação em Nuvem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15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VII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Metodologia de Avaliação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16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VIII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Resultados e Limitações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17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IX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Trabalhos Futuros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19</a:t>
            </a:r>
          </a:p>
          <a:p>
            <a:pPr>
              <a:spcAft>
                <a:spcPts val="2200"/>
              </a:spcAft>
            </a:pPr>
            <a:r>
              <a:rPr sz="1500" b="1" i="0">
                <a:solidFill>
                  <a:srgbClr val="1A1F9C"/>
                </a:solidFill>
                <a:latin typeface="Calibri"/>
              </a:rPr>
              <a:t>X 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Conclusão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	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Introdução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Execução incorreta de exercícios resistidos é causa comum de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lesão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e de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baixa efetividade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do treino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Praticantes iniciantes raramente têm um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profissional supervisionando cada repetição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A avaliação hoje depende de autoavaliação ou de vídeos genéricos, que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não analisam a execução específica do usuário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A popularização de câmeras de boa qualidade em </a:t>
            </a:r>
            <a:r>
              <a:rPr sz="1800" b="0" i="1">
                <a:solidFill>
                  <a:srgbClr val="181818"/>
                </a:solidFill>
                <a:latin typeface="Calibri"/>
              </a:rPr>
              <a:t>smartphones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e o amadurecimento de bibliotecas de estimativa de pose em tempo real tornaram viável um sistema acessível,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sem sensores vestíveis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Objetivo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Desenvolver e avaliar um sistema mobile completo de apoio ao treino de musculação, com um módulo de detecção automática da qualidade de execução baseado em visão computacional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Objetivos Específicos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10911535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App móvel Android (React Native/Expo) para planejamento, execução e histórico de treinos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Backend que centralize a persistência de dados e hospede o serviço de análise de vídeo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Pipeline de extração de características a partir de pose humana + classificador correto/incorreto para mais de um exercício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Implantação em um ambiente de nuvem, validada fora do ambiente de desenvolvimento local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Identificar e documentar as limitações do modelo atual, propondo direções para superá-las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Revisão Tecnológica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Sensores Inerciais — Velloso et al. (2013)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09115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4 IMUs (acelerômetro + giroscópio + magnetômetro) fixadas em luva, bracelete, cinto lombar e halter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Rosca bíceps unilateral,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5 classes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: 1 execução correta + 4 erros comuns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Random Forest: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98,03% de acurácia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 em validação cruzada 10-fold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Limitação prática: exige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instrumentar o usuário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 com múltiplos sensores — inviabiliza o uso espontâneo numa academia comum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Visão Computacional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91153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Dispensa qualquer instrumentação além de uma câmera comum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OpenPose (</a:t>
            </a:r>
            <a:r>
              <a:rPr sz="1550" b="0" i="1">
                <a:solidFill>
                  <a:srgbClr val="181818"/>
                </a:solidFill>
                <a:latin typeface="Calibri"/>
              </a:rPr>
              <a:t>bottom-up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, 18/25 pontos) vs.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MediaPipe/BlazePose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 (33 pontos, até 75× mais rápido em CPU móvel) — usado neste trabalho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Posição de câmera também afeta a estimativa de pose (Aguilar-Ortega et al., 2023): diferença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estatisticamente significativa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 entre ângulos de câmera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Revisão Tecnológica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Pose Trainer — Chen e Yang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091153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OpenPose + regras geométricas manuais + comparação por </a:t>
            </a:r>
            <a:r>
              <a:rPr sz="1600" b="0" i="1">
                <a:solidFill>
                  <a:srgbClr val="181818"/>
                </a:solidFill>
                <a:latin typeface="Calibri"/>
              </a:rPr>
              <a:t>Dynamic Time Warping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 (DTW) / kNN contra trajetórias de referência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4 exercícios com halteres; F1-score entre </a:t>
            </a:r>
            <a:r>
              <a:rPr sz="1600" b="1" i="0">
                <a:solidFill>
                  <a:srgbClr val="181818"/>
                </a:solidFill>
                <a:latin typeface="Calibri"/>
              </a:rPr>
              <a:t>0,73 e 1,00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81818"/>
                </a:solidFill>
                <a:latin typeface="Calibri"/>
              </a:rPr>
              <a:t>Origem do dataset de treino usado neste trabalho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 (elevação frontal e rosca bíceps)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Trabalhos Recentes (2021+)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Parmar, Gharat e Rhodin (2022): avaliação </a:t>
            </a:r>
            <a:r>
              <a:rPr sz="1600" b="0" i="1">
                <a:solidFill>
                  <a:srgbClr val="181818"/>
                </a:solidFill>
                <a:latin typeface="Calibri"/>
              </a:rPr>
              <a:t>self-supervised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 de erro de forma, direto do vídeo, sem regras manuais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Dittakavi et al. (2022) — Pose Tutor: sistema </a:t>
            </a:r>
            <a:r>
              <a:rPr sz="1600" b="1" i="0">
                <a:solidFill>
                  <a:srgbClr val="181818"/>
                </a:solidFill>
                <a:latin typeface="Calibri"/>
              </a:rPr>
              <a:t>explicável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, aponta qual articulação causou o erro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Posicionamento deste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2743200"/>
                <a:gridCol w="3108960"/>
              </a:tblGrid>
              <a:tr h="7162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Eixo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Velloso et al.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Pose Trainer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Este trabalho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Sensor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IMU vestível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Câmera de smartphone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Câmera de smartphone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Estratégia de decisão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Classificador sobre séries temporais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Regras + DTW/kNN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Classificador (RF/SVM) sobre o quadro de pico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Feedback ao usuário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Classe de erro (A–E)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Qual erro geométrico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Só correto/incorreto + confiança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Origem do dataset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Coletado pelos autores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Coletado pelos autores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Reaproveitado de terceiros (Pose Trainer)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Restrição computacional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Não se aplica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Ambiente de pesquisa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Nuvem sem GPU (Azure App Service B1)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6B6B76"/>
                </a:solidFill>
                <a:latin typeface="Calibri"/>
              </a:rPr>
              <a:t>Tabela completa com 8 eixos de comparação no artigo (Seção 2.4).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Arquitetura do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3 componentes: </a:t>
            </a:r>
            <a:r>
              <a:rPr sz="1600" b="1" i="0">
                <a:solidFill>
                  <a:srgbClr val="181818"/>
                </a:solidFill>
                <a:latin typeface="Calibri"/>
              </a:rPr>
              <a:t>app móvel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 (cliente), </a:t>
            </a:r>
            <a:r>
              <a:rPr sz="1600" b="1" i="0">
                <a:solidFill>
                  <a:srgbClr val="181818"/>
                </a:solidFill>
                <a:latin typeface="Calibri"/>
              </a:rPr>
              <a:t>backend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 (HTTP + WebSocket) e </a:t>
            </a:r>
            <a:r>
              <a:rPr sz="1600" b="1" i="0">
                <a:solidFill>
                  <a:srgbClr val="181818"/>
                </a:solidFill>
                <a:latin typeface="Calibri"/>
              </a:rPr>
              <a:t>módulo de ML</a:t>
            </a:r>
            <a:r>
              <a:rPr sz="1600" b="0" i="0">
                <a:solidFill>
                  <a:srgbClr val="181818"/>
                </a:solidFill>
                <a:latin typeface="Calibri"/>
              </a:rPr>
              <a:t> — executado no mesmo processo do backend, não como serviço separado</a:t>
            </a:r>
          </a:p>
        </p:txBody>
      </p:sp>
      <p:pic>
        <p:nvPicPr>
          <p:cNvPr id="7" name="Picture 6" descr="diagrama_arquitetu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851" y="2286000"/>
            <a:ext cx="6355992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Aplicativo Móvel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React Native + Expo (Android)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Autenticação de usuário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Cadastro de exercícios e montagem de fichas de treino (séries, repetições, carga)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Execução de sessões com cronômetro e estimativa de calorias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Histórico e estatísticas mensais de treino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Tela do detector: grava ou seleciona um vídeo para análise de execução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F9C"/>
                </a:solidFill>
                <a:latin typeface="Calibri"/>
              </a:rPr>
              <a:t>Comunicação com o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4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81818"/>
                </a:solidFill>
                <a:latin typeface="Calibri"/>
              </a:rPr>
              <a:t>HTTP (API REST, </a:t>
            </a:r>
            <a:r>
              <a:rPr sz="1450" b="0" i="1">
                <a:solidFill>
                  <a:srgbClr val="181818"/>
                </a:solidFill>
                <a:latin typeface="Calibri"/>
              </a:rPr>
              <a:t>token</a:t>
            </a:r>
            <a:r>
              <a:rPr sz="1450" b="0" i="0">
                <a:solidFill>
                  <a:srgbClr val="181818"/>
                </a:solidFill>
                <a:latin typeface="Calibri"/>
              </a:rPr>
              <a:t> JWT) e, no detector, também WebSocket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Diagrama de 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diagrama_use_c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741" y="960120"/>
            <a:ext cx="7366212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FastAPI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(Python) — rotas assíncronas (relevante para o processamento de vídeo) + documentação automática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SQLAlchemy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como ORM — SQLite em desenvolvimento,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PostgreSQL em produção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; migrações com Alembic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Autenticação com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JWT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(</a:t>
            </a:r>
            <a:r>
              <a:rPr sz="1800" b="0" i="1">
                <a:solidFill>
                  <a:srgbClr val="181818"/>
                </a:solidFill>
                <a:latin typeface="Calibri"/>
              </a:rPr>
              <a:t>python-jose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) e senhas com </a:t>
            </a:r>
            <a:r>
              <a:rPr sz="1800" b="0" i="1">
                <a:solidFill>
                  <a:srgbClr val="181818"/>
                </a:solidFill>
                <a:latin typeface="Calibri"/>
              </a:rPr>
              <a:t>hash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bcrypt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Modelo de dados: usuários, exercícios, treinos e sessões — cada série com o registro real de peso/repetições executados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Detecção de Execução de Exercícios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Estimativa de Pose e Extração de Características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09115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Cada quadro processado com </a:t>
            </a:r>
            <a:r>
              <a:rPr sz="1650" b="1" i="0">
                <a:solidFill>
                  <a:srgbClr val="181818"/>
                </a:solidFill>
                <a:latin typeface="Calibri"/>
              </a:rPr>
              <a:t>MediaPipe Pose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 (via OpenCV) → 33 pontos-chave 2D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Ângulos articulares + alturas relativas do punho, </a:t>
            </a:r>
            <a:r>
              <a:rPr sz="1650" b="1" i="0">
                <a:solidFill>
                  <a:srgbClr val="181818"/>
                </a:solidFill>
                <a:latin typeface="Calibri"/>
              </a:rPr>
              <a:t>normalizados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 pela distância ombro–quadril do próprio usuário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Cada exercício tem seu próprio conjunto de características e sua própria regra de "repouso" (delimita início/fim de cada repetição)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Características por Exercício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800600"/>
          <a:ext cx="108813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Exercício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Características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Elevação Frontal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7 — ângulo de braço e cotovelo (cada lado), altura de punho, assimetria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Rosca Bíceps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3 — ângulo de cotovelo, ângulo de braço, altura de punho (lado mais visível)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Detecção de Execução de Exercícios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1A1F9C"/>
                </a:solidFill>
                <a:latin typeface="Calibri"/>
              </a:rPr>
              <a:t>Classificação Supervisionada por Exercício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091153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Inferência: classifica o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quadro de pico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da repetição — o de maior ângulo de braço (elevação frontal) ou maior flexão de cotovelo (rosca bíceps)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Elevação Frontal: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Random Forest fixo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Rosca Bíceps: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escolha automática entre Random Forest, Gradient Boosting e SVM (validação cruzada 5-fold, F1 macro) → modelo atual é um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SVM com kernel RBF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181818"/>
                </a:solidFill>
                <a:latin typeface="Calibri"/>
              </a:rPr>
              <a:t>Quadro de pico, formalmente:</a:t>
            </a:r>
          </a:p>
          <a:p>
            <a:pPr>
              <a:spcBef>
                <a:spcPts val="800"/>
              </a:spcBef>
            </a:pPr>
            <a:r>
              <a:rPr sz="2000" b="1" i="0">
                <a:solidFill>
                  <a:srgbClr val="14205E"/>
                </a:solidFill>
                <a:latin typeface="Georgia"/>
              </a:rPr>
              <a:t>quadro classificado = arg maxₜ iₜ</a:t>
            </a:r>
          </a:p>
          <a:p>
            <a:pPr>
              <a:spcBef>
                <a:spcPts val="600"/>
              </a:spcBef>
            </a:pPr>
            <a:r>
              <a:rPr sz="1300" b="0" i="1">
                <a:solidFill>
                  <a:srgbClr val="6B6B76"/>
                </a:solidFill>
                <a:latin typeface="Calibri"/>
              </a:rPr>
              <a:t>iₜ = métrica de intensidade do exercício no quadro t da repetição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Dataset de Treino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Dataset público do projeto </a:t>
            </a:r>
            <a:r>
              <a:rPr sz="1650" b="1" i="0">
                <a:solidFill>
                  <a:srgbClr val="181818"/>
                </a:solidFill>
                <a:latin typeface="Calibri"/>
              </a:rPr>
              <a:t>Pose Trainer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, extraído via OpenPose (formato BODY_18)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Cada quadro válido do vídeo vira uma linha independente — </a:t>
            </a:r>
            <a:r>
              <a:rPr sz="1650" b="1" i="0">
                <a:solidFill>
                  <a:srgbClr val="181818"/>
                </a:solidFill>
                <a:latin typeface="Calibri"/>
              </a:rPr>
              <a:t>não há segmentação por repetição</a:t>
            </a:r>
            <a:r>
              <a:rPr sz="1650" b="0" i="0">
                <a:solidFill>
                  <a:srgbClr val="181818"/>
                </a:solidFill>
                <a:latin typeface="Calibri"/>
              </a:rPr>
              <a:t> no treino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375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2560320"/>
                <a:gridCol w="2651760"/>
              </a:tblGrid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Exercício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Vídeos (bom/ruim)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Amostras (linhas)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14205E"/>
                          </a:solidFill>
                          <a:latin typeface="Calibri"/>
                        </a:rPr>
                        <a:t>Correto/Incorreto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Elevação Frontal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15 / 13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626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343 / 283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Rosca Bíceps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1158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81818"/>
                          </a:solidFill>
                          <a:latin typeface="Calibri"/>
                        </a:rPr>
                        <a:t>465 / 693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81818"/>
                </a:solidFill>
                <a:latin typeface="Calibri"/>
              </a:rPr>
              <a:t>Vídeos com execuções rotuladas como "correta" ou "incorreta" (ex.: flexão do cotovelo na elevação frontal, uso de momento do corpo na rosca bíceps)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Implantação em Nuvem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Backend conteinerizado com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Docker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e implantado na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Microsoft Azure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: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0" i="0">
                <a:solidFill>
                  <a:srgbClr val="6B6B76"/>
                </a:solidFill>
                <a:latin typeface="Calibri"/>
              </a:rPr>
              <a:t>   •  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Azure Container Registry — armazena a imagem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0" i="0">
                <a:solidFill>
                  <a:srgbClr val="6B6B76"/>
                </a:solidFill>
                <a:latin typeface="Calibri"/>
              </a:rPr>
              <a:t>   •  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Azure App Service, camada B1 — executa o container (sem GPU)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0" i="0">
                <a:solidFill>
                  <a:srgbClr val="6B6B76"/>
                </a:solidFill>
                <a:latin typeface="Calibri"/>
              </a:rPr>
              <a:t>   •  </a:t>
            </a:r>
            <a:r>
              <a:rPr sz="1500" b="0" i="0">
                <a:solidFill>
                  <a:srgbClr val="6B6B76"/>
                </a:solidFill>
                <a:latin typeface="Calibri"/>
              </a:rPr>
              <a:t>Azure Database for PostgreSQL, camada B1ms — persistência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App móvel compilado como pacote Android autônomo (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EAS Build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, perfil </a:t>
            </a:r>
            <a:r>
              <a:rPr sz="1700" b="0" i="1">
                <a:solidFill>
                  <a:srgbClr val="181818"/>
                </a:solidFill>
                <a:latin typeface="Calibri"/>
              </a:rPr>
              <a:t>preview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), já apontando para o backend na nuvem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Metodologia de 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Particionamento treino/teste (80/20) e validação cruzada 5-fold feitos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por quadro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, não por vídeo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O identificador do vídeo de origem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não é preservado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no CSV — impossível garantir que quadros de um mesmo vídeo fiquem só de um lado da partição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Métricas reportadas: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acurácia (teste + validação cruzada) para os dois exercícios; F1 macro (validação cruzada) adicional na rosca bíceps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Sistema completo implantado e funcional, testado a partir de um </a:t>
            </a:r>
            <a:r>
              <a:rPr sz="1700" b="0" i="1">
                <a:solidFill>
                  <a:srgbClr val="181818"/>
                </a:solidFill>
                <a:latin typeface="Calibri"/>
              </a:rPr>
              <a:t>build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Android real, fora do ambiente de desenvolvimento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7432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  <a:gridCol w="301752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4205E"/>
                          </a:solidFill>
                          <a:latin typeface="Calibri"/>
                        </a:rPr>
                        <a:t>Exercício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4205E"/>
                          </a:solidFill>
                          <a:latin typeface="Calibri"/>
                        </a:rPr>
                        <a:t>Acurácia (teste)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4205E"/>
                          </a:solidFill>
                          <a:latin typeface="Calibri"/>
                        </a:rPr>
                        <a:t>Validação Cruzada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4205E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6200" marR="76200" marT="50800" marB="50800" anchor="ctr">
                    <a:solidFill>
                      <a:srgbClr val="DDDF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Elevação Frontal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83% ± 3% (acurácia)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6200" marR="762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Rosca Bíceps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F1 macro 0,85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50" b="0" i="0">
                          <a:solidFill>
                            <a:srgbClr val="181818"/>
                          </a:solidFill>
                          <a:latin typeface="Calibri"/>
                        </a:rPr>
                        <a:t>SVM (kernel RBF)</a:t>
                      </a:r>
                    </a:p>
                  </a:txBody>
                  <a:tcPr marL="76200" marR="76200" marT="50800" marB="508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Acurácias são um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limite superior otimista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: </a:t>
            </a:r>
            <a:r>
              <a:rPr sz="1550" b="0" i="1">
                <a:solidFill>
                  <a:srgbClr val="181818"/>
                </a:solidFill>
                <a:latin typeface="Calibri"/>
              </a:rPr>
              <a:t>split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 por quadro (não por vídeo) provavelmente vaza entre treino e teste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Mecanismo causal central: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 a inferência sempre classifica o quadro de maior amplitude da repetição, mas o treino não seleciona picos — dataset cobre só até ~110°, execuções reais chegam a 172°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Observação preliminar </a:t>
            </a:r>
            <a:r>
              <a:rPr sz="1550" b="1" i="0">
                <a:solidFill>
                  <a:srgbClr val="181818"/>
                </a:solidFill>
                <a:latin typeface="Calibri"/>
              </a:rPr>
              <a:t>não controlada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: câmera operada por terceiro erra mais que autorregistro (plausibilidade externa em Aguilar-Ortega et al., 2023)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Descasamento de limiar de repouso na rosca bíceps (155° na curadoria do dataset vs. 130° em produção)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Sem matriz de confusão nem métricas por classe; dataset da rosca bíceps desbalanceado (465/693)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81818"/>
                </a:solidFill>
                <a:latin typeface="Calibri"/>
              </a:rPr>
              <a:t>Segmentação de repetições (detecção de repouso) nunca avaliada isoladamente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Trabalhos Futuros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Metodologia de avaliação: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particionamento por vídeo (GroupKFold); alinhar amostragem de treino ao quadro de pico; unificar limiares de repouso; avaliar a segmentação de repetições; métricas por classe e matriz de confusão; experimento controlado de posicionamento de câmera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Dados e modelo: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ampliar o dataset com vídeos próprios (amplitude + posicionamento de câmera); extrair dataset direto do MediaPipe, unificando o estimador usado em treino e produção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700" b="1" i="0">
                <a:solidFill>
                  <a:srgbClr val="181818"/>
                </a:solidFill>
                <a:latin typeface="Calibri"/>
              </a:rPr>
              <a:t>Produto:</a:t>
            </a:r>
            <a:r>
              <a:rPr sz="1700" b="0" i="0">
                <a:solidFill>
                  <a:srgbClr val="181818"/>
                </a:solidFill>
                <a:latin typeface="Calibri"/>
              </a:rPr>
              <a:t> novos exercícios; validação de usabilidade com um grupo maior de usuários reais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14205E"/>
                </a:solidFill>
                <a:latin typeface="Georgia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App móvel completo de gerenciamento de treinos com um módulo de detecção da qualidade de execução baseado em estimativa de pose e aprendizado de máquina supervisionado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Cobertura de ponta a ponta: da arquitetura do sistema até a implantação em um ambiente de nuvem real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Principal lição do desenvolvimento: os maiores riscos técnicos não estão só na escolha do algoritmo de classificação, mas na </a:t>
            </a:r>
            <a:r>
              <a:rPr sz="1800" b="1" i="0">
                <a:solidFill>
                  <a:srgbClr val="181818"/>
                </a:solidFill>
                <a:latin typeface="Calibri"/>
              </a:rPr>
              <a:t>representatividade do dataset de treino</a:t>
            </a:r>
            <a:r>
              <a:rPr sz="1800" b="0" i="0">
                <a:solidFill>
                  <a:srgbClr val="181818"/>
                </a:solidFill>
                <a:latin typeface="Calibri"/>
              </a:rPr>
              <a:t> frente à variabilidade real de execução dos usuários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 i="0">
                <a:solidFill>
                  <a:srgbClr val="14205E"/>
                </a:solidFill>
                <a:latin typeface="Georgia"/>
              </a:rPr>
              <a:t>Agradecimentos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661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Ao meu orientador, Prof. Antonio Paulo Salgado Forster, pela orientação ao longo do trabalho;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Aos professores e colegas que acompanharam o desenvolvimento deste projeto;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181818"/>
                </a:solidFill>
                <a:latin typeface="Calibri"/>
              </a:rPr>
              <a:t>À minha família, pelo apoio constante.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25603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6B76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8521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A1F9C"/>
                </a:solidFill>
                <a:latin typeface="Calibri"/>
              </a:rPr>
              <a:t>Obrigado! Perguntas?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