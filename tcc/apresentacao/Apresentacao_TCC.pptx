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puc_campin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65760"/>
            <a:ext cx="746805" cy="6583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384048"/>
            <a:ext cx="4114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50" b="1" i="0">
                <a:solidFill>
                  <a:srgbClr val="181818"/>
                </a:solidFill>
                <a:latin typeface="Calibri"/>
              </a:rPr>
              <a:t>PONTIFÍCIA</a:t>
            </a:r>
          </a:p>
          <a:p>
            <a:pPr>
              <a:lnSpc>
                <a:spcPct val="100000"/>
              </a:lnSpc>
            </a:pPr>
            <a:r>
              <a:rPr sz="1050" b="1" i="0">
                <a:solidFill>
                  <a:srgbClr val="181818"/>
                </a:solidFill>
                <a:latin typeface="Calibri"/>
              </a:rPr>
              <a:t>UNIVERSIDADE</a:t>
            </a:r>
          </a:p>
          <a:p>
            <a:pPr>
              <a:lnSpc>
                <a:spcPct val="100000"/>
              </a:lnSpc>
            </a:pPr>
            <a:r>
              <a:rPr sz="1050" b="1" i="0">
                <a:solidFill>
                  <a:srgbClr val="181818"/>
                </a:solidFill>
                <a:latin typeface="Calibri"/>
              </a:rPr>
              <a:t>CATÓLICA DE CAMPINAS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74175" y="45720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181818"/>
                </a:solidFill>
                <a:latin typeface="Calibri"/>
              </a:rPr>
              <a:t>Outubro de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88136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3400" b="0" i="0">
                <a:solidFill>
                  <a:srgbClr val="14205E"/>
                </a:solidFill>
                <a:latin typeface="Georgia"/>
              </a:rPr>
              <a:t>Um Aplicativo Móvel para Gerenciamento de Treinos com Detecção da Qualidade de Execução de Exercícios via Visão Computacional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623560"/>
            <a:ext cx="3657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81818"/>
                </a:solidFill>
                <a:latin typeface="Calibri"/>
              </a:rPr>
              <a:t>Orientador</a:t>
            </a:r>
          </a:p>
          <a:p>
            <a:r>
              <a:rPr sz="1400" b="0" i="0">
                <a:solidFill>
                  <a:srgbClr val="1A1F9C"/>
                </a:solidFill>
                <a:latin typeface="Calibri"/>
              </a:rPr>
              <a:t>Antonio Paulo Salgado Forster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5623560"/>
            <a:ext cx="3657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81818"/>
                </a:solidFill>
                <a:latin typeface="Calibri"/>
              </a:rPr>
              <a:t>Aluno</a:t>
            </a:r>
          </a:p>
          <a:p>
            <a:r>
              <a:rPr sz="1400" b="0" i="0">
                <a:solidFill>
                  <a:srgbClr val="1A1F9C"/>
                </a:solidFill>
                <a:latin typeface="Calibri"/>
              </a:rPr>
              <a:t>Fernando Bordin Correa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26364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6B76"/>
                </a:solidFill>
                <a:latin typeface="Calibri"/>
              </a:rPr>
              <a:t>TCC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14205E"/>
                </a:solidFill>
                <a:latin typeface="Georgia"/>
              </a:rPr>
              <a:t>Sumário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256032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6B76"/>
                </a:solidFill>
                <a:latin typeface="Calibri"/>
              </a:rPr>
              <a:t>Outubro de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6B76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1206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200"/>
              </a:spcAft>
            </a:pPr>
            <a:r>
              <a:rPr sz="1500" b="1" i="0">
                <a:solidFill>
                  <a:srgbClr val="1A1F9C"/>
                </a:solidFill>
                <a:latin typeface="Calibri"/>
              </a:rPr>
              <a:t>I   </a:t>
            </a:r>
            <a:r>
              <a:rPr sz="1500" b="0" i="0">
                <a:solidFill>
                  <a:srgbClr val="181818"/>
                </a:solidFill>
                <a:latin typeface="Calibri"/>
              </a:rPr>
              <a:t>Introdução</a:t>
            </a:r>
            <a:r>
              <a:rPr sz="1500" b="0" i="0">
                <a:solidFill>
                  <a:srgbClr val="6B6B76"/>
                </a:solidFill>
                <a:latin typeface="Calibri"/>
              </a:rPr>
              <a:t>	3</a:t>
            </a:r>
          </a:p>
          <a:p>
            <a:pPr>
              <a:spcAft>
                <a:spcPts val="2200"/>
              </a:spcAft>
            </a:pPr>
            <a:r>
              <a:rPr sz="1500" b="1" i="0">
                <a:solidFill>
                  <a:srgbClr val="1A1F9C"/>
                </a:solidFill>
                <a:latin typeface="Calibri"/>
              </a:rPr>
              <a:t>II   </a:t>
            </a:r>
            <a:r>
              <a:rPr sz="1500" b="0" i="0">
                <a:solidFill>
                  <a:srgbClr val="181818"/>
                </a:solidFill>
                <a:latin typeface="Calibri"/>
              </a:rPr>
              <a:t>Objetivos</a:t>
            </a:r>
            <a:r>
              <a:rPr sz="1500" b="0" i="0">
                <a:solidFill>
                  <a:srgbClr val="6B6B76"/>
                </a:solidFill>
                <a:latin typeface="Calibri"/>
              </a:rPr>
              <a:t>	4</a:t>
            </a:r>
          </a:p>
          <a:p>
            <a:pPr>
              <a:spcAft>
                <a:spcPts val="2200"/>
              </a:spcAft>
            </a:pPr>
            <a:r>
              <a:rPr sz="1500" b="1" i="0">
                <a:solidFill>
                  <a:srgbClr val="1A1F9C"/>
                </a:solidFill>
                <a:latin typeface="Calibri"/>
              </a:rPr>
              <a:t>III   </a:t>
            </a:r>
            <a:r>
              <a:rPr sz="1500" b="0" i="0">
                <a:solidFill>
                  <a:srgbClr val="181818"/>
                </a:solidFill>
                <a:latin typeface="Calibri"/>
              </a:rPr>
              <a:t>Revisão Tecnológica</a:t>
            </a:r>
            <a:r>
              <a:rPr sz="1500" b="0" i="0">
                <a:solidFill>
                  <a:srgbClr val="6B6B76"/>
                </a:solidFill>
                <a:latin typeface="Calibri"/>
              </a:rPr>
              <a:t>	5</a:t>
            </a:r>
          </a:p>
          <a:p>
            <a:pPr>
              <a:spcAft>
                <a:spcPts val="2200"/>
              </a:spcAft>
            </a:pPr>
            <a:r>
              <a:rPr sz="1500" b="1" i="0">
                <a:solidFill>
                  <a:srgbClr val="1A1F9C"/>
                </a:solidFill>
                <a:latin typeface="Calibri"/>
              </a:rPr>
              <a:t>IV   </a:t>
            </a:r>
            <a:r>
              <a:rPr sz="1500" b="0" i="0">
                <a:solidFill>
                  <a:srgbClr val="181818"/>
                </a:solidFill>
                <a:latin typeface="Calibri"/>
              </a:rPr>
              <a:t>Arquitetura do Sistema</a:t>
            </a:r>
            <a:r>
              <a:rPr sz="1500" b="0" i="0">
                <a:solidFill>
                  <a:srgbClr val="6B6B76"/>
                </a:solidFill>
                <a:latin typeface="Calibri"/>
              </a:rPr>
              <a:t>	8</a:t>
            </a:r>
          </a:p>
          <a:p>
            <a:pPr>
              <a:spcAft>
                <a:spcPts val="2200"/>
              </a:spcAft>
            </a:pPr>
            <a:r>
              <a:rPr sz="1500" b="1" i="0">
                <a:solidFill>
                  <a:srgbClr val="1A1F9C"/>
                </a:solidFill>
                <a:latin typeface="Calibri"/>
              </a:rPr>
              <a:t>V   </a:t>
            </a:r>
            <a:r>
              <a:rPr sz="1500" b="0" i="0">
                <a:solidFill>
                  <a:srgbClr val="181818"/>
                </a:solidFill>
                <a:latin typeface="Calibri"/>
              </a:rPr>
              <a:t>Detecção de Execução de Exercícios</a:t>
            </a:r>
            <a:r>
              <a:rPr sz="1500" b="0" i="0">
                <a:solidFill>
                  <a:srgbClr val="6B6B76"/>
                </a:solidFill>
                <a:latin typeface="Calibri"/>
              </a:rPr>
              <a:t>	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1206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200"/>
              </a:spcAft>
            </a:pPr>
            <a:r>
              <a:rPr sz="1500" b="1" i="0">
                <a:solidFill>
                  <a:srgbClr val="1A1F9C"/>
                </a:solidFill>
                <a:latin typeface="Calibri"/>
              </a:rPr>
              <a:t>VI   </a:t>
            </a:r>
            <a:r>
              <a:rPr sz="1500" b="0" i="0">
                <a:solidFill>
                  <a:srgbClr val="181818"/>
                </a:solidFill>
                <a:latin typeface="Calibri"/>
              </a:rPr>
              <a:t>Implantação em Nuvem</a:t>
            </a:r>
            <a:r>
              <a:rPr sz="1500" b="0" i="0">
                <a:solidFill>
                  <a:srgbClr val="6B6B76"/>
                </a:solidFill>
                <a:latin typeface="Calibri"/>
              </a:rPr>
              <a:t>	15</a:t>
            </a:r>
          </a:p>
          <a:p>
            <a:pPr>
              <a:spcAft>
                <a:spcPts val="2200"/>
              </a:spcAft>
            </a:pPr>
            <a:r>
              <a:rPr sz="1500" b="1" i="0">
                <a:solidFill>
                  <a:srgbClr val="1A1F9C"/>
                </a:solidFill>
                <a:latin typeface="Calibri"/>
              </a:rPr>
              <a:t>VII   </a:t>
            </a:r>
            <a:r>
              <a:rPr sz="1500" b="0" i="0">
                <a:solidFill>
                  <a:srgbClr val="181818"/>
                </a:solidFill>
                <a:latin typeface="Calibri"/>
              </a:rPr>
              <a:t>Metodologia de Avaliação</a:t>
            </a:r>
            <a:r>
              <a:rPr sz="1500" b="0" i="0">
                <a:solidFill>
                  <a:srgbClr val="6B6B76"/>
                </a:solidFill>
                <a:latin typeface="Calibri"/>
              </a:rPr>
              <a:t>	16</a:t>
            </a:r>
          </a:p>
          <a:p>
            <a:pPr>
              <a:spcAft>
                <a:spcPts val="2200"/>
              </a:spcAft>
            </a:pPr>
            <a:r>
              <a:rPr sz="1500" b="1" i="0">
                <a:solidFill>
                  <a:srgbClr val="1A1F9C"/>
                </a:solidFill>
                <a:latin typeface="Calibri"/>
              </a:rPr>
              <a:t>VIII   </a:t>
            </a:r>
            <a:r>
              <a:rPr sz="1500" b="0" i="0">
                <a:solidFill>
                  <a:srgbClr val="181818"/>
                </a:solidFill>
                <a:latin typeface="Calibri"/>
              </a:rPr>
              <a:t>Resultados e Limitações</a:t>
            </a:r>
            <a:r>
              <a:rPr sz="1500" b="0" i="0">
                <a:solidFill>
                  <a:srgbClr val="6B6B76"/>
                </a:solidFill>
                <a:latin typeface="Calibri"/>
              </a:rPr>
              <a:t>	17</a:t>
            </a:r>
          </a:p>
          <a:p>
            <a:pPr>
              <a:spcAft>
                <a:spcPts val="2200"/>
              </a:spcAft>
            </a:pPr>
            <a:r>
              <a:rPr sz="1500" b="1" i="0">
                <a:solidFill>
                  <a:srgbClr val="1A1F9C"/>
                </a:solidFill>
                <a:latin typeface="Calibri"/>
              </a:rPr>
              <a:t>IX   </a:t>
            </a:r>
            <a:r>
              <a:rPr sz="1500" b="0" i="0">
                <a:solidFill>
                  <a:srgbClr val="181818"/>
                </a:solidFill>
                <a:latin typeface="Calibri"/>
              </a:rPr>
              <a:t>Trabalhos Futuros</a:t>
            </a:r>
            <a:r>
              <a:rPr sz="1500" b="0" i="0">
                <a:solidFill>
                  <a:srgbClr val="6B6B76"/>
                </a:solidFill>
                <a:latin typeface="Calibri"/>
              </a:rPr>
              <a:t>	19</a:t>
            </a:r>
          </a:p>
          <a:p>
            <a:pPr>
              <a:spcAft>
                <a:spcPts val="2200"/>
              </a:spcAft>
            </a:pPr>
            <a:r>
              <a:rPr sz="1500" b="1" i="0">
                <a:solidFill>
                  <a:srgbClr val="1A1F9C"/>
                </a:solidFill>
                <a:latin typeface="Calibri"/>
              </a:rPr>
              <a:t>X   </a:t>
            </a:r>
            <a:r>
              <a:rPr sz="1500" b="0" i="0">
                <a:solidFill>
                  <a:srgbClr val="181818"/>
                </a:solidFill>
                <a:latin typeface="Calibri"/>
              </a:rPr>
              <a:t>Conclusão</a:t>
            </a:r>
            <a:r>
              <a:rPr sz="1500" b="0" i="0">
                <a:solidFill>
                  <a:srgbClr val="6B6B76"/>
                </a:solidFill>
                <a:latin typeface="Calibri"/>
              </a:rPr>
              <a:t>	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14205E"/>
                </a:solidFill>
                <a:latin typeface="Georgia"/>
              </a:rPr>
              <a:t>Introdução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1" i="0">
                <a:solidFill>
                  <a:srgbClr val="1A1F9C"/>
                </a:solidFill>
                <a:latin typeface="Calibri"/>
              </a:rPr>
              <a:t>O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5615" y="256032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6B76"/>
                </a:solidFill>
                <a:latin typeface="Calibri"/>
              </a:rPr>
              <a:t>Outubro de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6B76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73352"/>
            <a:ext cx="10911535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800" b="0" i="0">
                <a:solidFill>
                  <a:srgbClr val="181818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181818"/>
                </a:solidFill>
                <a:latin typeface="Calibri"/>
              </a:rPr>
              <a:t>Execução incorreta de exercícios resistidos é causa comum de </a:t>
            </a:r>
            <a:r>
              <a:rPr sz="1800" b="1" i="0">
                <a:solidFill>
                  <a:srgbClr val="181818"/>
                </a:solidFill>
                <a:latin typeface="Calibri"/>
              </a:rPr>
              <a:t>lesão</a:t>
            </a:r>
            <a:r>
              <a:rPr sz="1800" b="0" i="0">
                <a:solidFill>
                  <a:srgbClr val="181818"/>
                </a:solidFill>
                <a:latin typeface="Calibri"/>
              </a:rPr>
              <a:t> e de </a:t>
            </a:r>
            <a:r>
              <a:rPr sz="1800" b="1" i="0">
                <a:solidFill>
                  <a:srgbClr val="181818"/>
                </a:solidFill>
                <a:latin typeface="Calibri"/>
              </a:rPr>
              <a:t>baixa efetividade</a:t>
            </a:r>
            <a:r>
              <a:rPr sz="1800" b="0" i="0">
                <a:solidFill>
                  <a:srgbClr val="181818"/>
                </a:solidFill>
                <a:latin typeface="Calibri"/>
              </a:rPr>
              <a:t> do treino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800" b="0" i="0">
                <a:solidFill>
                  <a:srgbClr val="181818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181818"/>
                </a:solidFill>
                <a:latin typeface="Calibri"/>
              </a:rPr>
              <a:t>Praticantes iniciantes raramente têm um </a:t>
            </a:r>
            <a:r>
              <a:rPr sz="1800" b="1" i="0">
                <a:solidFill>
                  <a:srgbClr val="181818"/>
                </a:solidFill>
                <a:latin typeface="Calibri"/>
              </a:rPr>
              <a:t>profissional supervisionando cada repetição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800" b="0" i="0">
                <a:solidFill>
                  <a:srgbClr val="181818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181818"/>
                </a:solidFill>
                <a:latin typeface="Calibri"/>
              </a:rPr>
              <a:t>A avaliação hoje depende de autoavaliação ou de vídeos genéricos, que </a:t>
            </a:r>
            <a:r>
              <a:rPr sz="1800" b="1" i="0">
                <a:solidFill>
                  <a:srgbClr val="181818"/>
                </a:solidFill>
                <a:latin typeface="Calibri"/>
              </a:rPr>
              <a:t>não analisam a execução específica do usuário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800" b="0" i="0">
                <a:solidFill>
                  <a:srgbClr val="181818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181818"/>
                </a:solidFill>
                <a:latin typeface="Calibri"/>
              </a:rPr>
              <a:t>A popularização de câmeras de boa qualidade em </a:t>
            </a:r>
            <a:r>
              <a:rPr sz="1800" b="0" i="1">
                <a:solidFill>
                  <a:srgbClr val="181818"/>
                </a:solidFill>
                <a:latin typeface="Calibri"/>
              </a:rPr>
              <a:t>smartphones</a:t>
            </a:r>
            <a:r>
              <a:rPr sz="1800" b="0" i="0">
                <a:solidFill>
                  <a:srgbClr val="181818"/>
                </a:solidFill>
                <a:latin typeface="Calibri"/>
              </a:rPr>
              <a:t> e o amadurecimento de bibliotecas de estimativa de pose em tempo real tornaram viável um sistema acessível, </a:t>
            </a:r>
            <a:r>
              <a:rPr sz="1800" b="1" i="0">
                <a:solidFill>
                  <a:srgbClr val="181818"/>
                </a:solidFill>
                <a:latin typeface="Calibri"/>
              </a:rPr>
              <a:t>sem sensores vestíveis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14205E"/>
                </a:solidFill>
                <a:latin typeface="Georgia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1" i="0">
                <a:solidFill>
                  <a:srgbClr val="1A1F9C"/>
                </a:solidFill>
                <a:latin typeface="Calibri"/>
              </a:rPr>
              <a:t>Objetivo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5615" y="256032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6B76"/>
                </a:solidFill>
                <a:latin typeface="Calibri"/>
              </a:rPr>
              <a:t>Outubro de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6B76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73352"/>
            <a:ext cx="109115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700" b="0" i="0">
                <a:solidFill>
                  <a:srgbClr val="181818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181818"/>
                </a:solidFill>
                <a:latin typeface="Calibri"/>
              </a:rPr>
              <a:t>Desenvolver e avaliar um sistema mobile completo de apoio ao treino de musculação, com um módulo de detecção automática da qualidade de execução baseado em visão computacional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1" i="0">
                <a:solidFill>
                  <a:srgbClr val="1A1F9C"/>
                </a:solidFill>
                <a:latin typeface="Calibri"/>
              </a:rPr>
              <a:t>Objetivos Específicos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29000"/>
            <a:ext cx="10911535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50" b="0" i="0">
                <a:solidFill>
                  <a:srgbClr val="181818"/>
                </a:solidFill>
                <a:latin typeface="Calibri"/>
              </a:rPr>
              <a:t>•  </a:t>
            </a:r>
            <a:r>
              <a:rPr sz="1550" b="0" i="0">
                <a:solidFill>
                  <a:srgbClr val="181818"/>
                </a:solidFill>
                <a:latin typeface="Calibri"/>
              </a:rPr>
              <a:t>App móvel Android (React Native/Expo) para planejamento, execução e histórico de treinos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50" b="0" i="0">
                <a:solidFill>
                  <a:srgbClr val="181818"/>
                </a:solidFill>
                <a:latin typeface="Calibri"/>
              </a:rPr>
              <a:t>•  </a:t>
            </a:r>
            <a:r>
              <a:rPr sz="1550" b="0" i="0">
                <a:solidFill>
                  <a:srgbClr val="181818"/>
                </a:solidFill>
                <a:latin typeface="Calibri"/>
              </a:rPr>
              <a:t>Backend que centralize a persistência de dados e hospede o serviço de análise de vídeo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50" b="0" i="0">
                <a:solidFill>
                  <a:srgbClr val="181818"/>
                </a:solidFill>
                <a:latin typeface="Calibri"/>
              </a:rPr>
              <a:t>•  </a:t>
            </a:r>
            <a:r>
              <a:rPr sz="1550" b="0" i="0">
                <a:solidFill>
                  <a:srgbClr val="181818"/>
                </a:solidFill>
                <a:latin typeface="Calibri"/>
              </a:rPr>
              <a:t>Pipeline de extração de características a partir de pose humana + classificador correto/incorreto para mais de um exercício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50" b="0" i="0">
                <a:solidFill>
                  <a:srgbClr val="181818"/>
                </a:solidFill>
                <a:latin typeface="Calibri"/>
              </a:rPr>
              <a:t>•  </a:t>
            </a:r>
            <a:r>
              <a:rPr sz="1550" b="0" i="0">
                <a:solidFill>
                  <a:srgbClr val="181818"/>
                </a:solidFill>
                <a:latin typeface="Calibri"/>
              </a:rPr>
              <a:t>Implantação em um ambiente de nuvem, validada fora do ambiente de desenvolvimento local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50" b="0" i="0">
                <a:solidFill>
                  <a:srgbClr val="181818"/>
                </a:solidFill>
                <a:latin typeface="Calibri"/>
              </a:rPr>
              <a:t>•  </a:t>
            </a:r>
            <a:r>
              <a:rPr sz="1550" b="0" i="0">
                <a:solidFill>
                  <a:srgbClr val="181818"/>
                </a:solidFill>
                <a:latin typeface="Calibri"/>
              </a:rPr>
              <a:t>Identificar e documentar as limitações do modelo atual, propondo direções para superá-las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14205E"/>
                </a:solidFill>
                <a:latin typeface="Georgia"/>
              </a:rPr>
              <a:t>Revisão Tecnológica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1" i="0">
                <a:solidFill>
                  <a:srgbClr val="1A1F9C"/>
                </a:solidFill>
                <a:latin typeface="Calibri"/>
              </a:rPr>
              <a:t>Sensores Inerciais — Velloso et al. (2013)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5615" y="256032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6B76"/>
                </a:solidFill>
                <a:latin typeface="Calibri"/>
              </a:rPr>
              <a:t>Outubro de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6B76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73352"/>
            <a:ext cx="1091153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50" b="0" i="0">
                <a:solidFill>
                  <a:srgbClr val="181818"/>
                </a:solidFill>
                <a:latin typeface="Calibri"/>
              </a:rPr>
              <a:t>•  </a:t>
            </a:r>
            <a:r>
              <a:rPr sz="1550" b="0" i="0">
                <a:solidFill>
                  <a:srgbClr val="181818"/>
                </a:solidFill>
                <a:latin typeface="Calibri"/>
              </a:rPr>
              <a:t>4 IMUs (acelerômetro + giroscópio + magnetômetro) fixadas em luva, bracelete, cinto lombar e halter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50" b="0" i="0">
                <a:solidFill>
                  <a:srgbClr val="181818"/>
                </a:solidFill>
                <a:latin typeface="Calibri"/>
              </a:rPr>
              <a:t>•  </a:t>
            </a:r>
            <a:r>
              <a:rPr sz="1550" b="0" i="0">
                <a:solidFill>
                  <a:srgbClr val="181818"/>
                </a:solidFill>
                <a:latin typeface="Calibri"/>
              </a:rPr>
              <a:t>Rosca bíceps unilateral, </a:t>
            </a:r>
            <a:r>
              <a:rPr sz="1550" b="1" i="0">
                <a:solidFill>
                  <a:srgbClr val="181818"/>
                </a:solidFill>
                <a:latin typeface="Calibri"/>
              </a:rPr>
              <a:t>5 classes</a:t>
            </a:r>
            <a:r>
              <a:rPr sz="1550" b="0" i="0">
                <a:solidFill>
                  <a:srgbClr val="181818"/>
                </a:solidFill>
                <a:latin typeface="Calibri"/>
              </a:rPr>
              <a:t>: 1 execução correta + 4 erros comuns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50" b="0" i="0">
                <a:solidFill>
                  <a:srgbClr val="181818"/>
                </a:solidFill>
                <a:latin typeface="Calibri"/>
              </a:rPr>
              <a:t>•  </a:t>
            </a:r>
            <a:r>
              <a:rPr sz="1550" b="0" i="0">
                <a:solidFill>
                  <a:srgbClr val="181818"/>
                </a:solidFill>
                <a:latin typeface="Calibri"/>
              </a:rPr>
              <a:t>Random Forest: </a:t>
            </a:r>
            <a:r>
              <a:rPr sz="1550" b="1" i="0">
                <a:solidFill>
                  <a:srgbClr val="181818"/>
                </a:solidFill>
                <a:latin typeface="Calibri"/>
              </a:rPr>
              <a:t>98,03% de acurácia</a:t>
            </a:r>
            <a:r>
              <a:rPr sz="1550" b="0" i="0">
                <a:solidFill>
                  <a:srgbClr val="181818"/>
                </a:solidFill>
                <a:latin typeface="Calibri"/>
              </a:rPr>
              <a:t> em validação cruzada 10-fold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50" b="0" i="0">
                <a:solidFill>
                  <a:srgbClr val="181818"/>
                </a:solidFill>
                <a:latin typeface="Calibri"/>
              </a:rPr>
              <a:t>•  </a:t>
            </a:r>
            <a:r>
              <a:rPr sz="1550" b="0" i="0">
                <a:solidFill>
                  <a:srgbClr val="181818"/>
                </a:solidFill>
                <a:latin typeface="Calibri"/>
              </a:rPr>
              <a:t>Limitação prática: exige </a:t>
            </a:r>
            <a:r>
              <a:rPr sz="1550" b="1" i="0">
                <a:solidFill>
                  <a:srgbClr val="181818"/>
                </a:solidFill>
                <a:latin typeface="Calibri"/>
              </a:rPr>
              <a:t>instrumentar o usuário</a:t>
            </a:r>
            <a:r>
              <a:rPr sz="1550" b="0" i="0">
                <a:solidFill>
                  <a:srgbClr val="181818"/>
                </a:solidFill>
                <a:latin typeface="Calibri"/>
              </a:rPr>
              <a:t> com múltiplos sensores — inviabiliza o uso espontâneo numa academia comum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4340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1" i="0">
                <a:solidFill>
                  <a:srgbClr val="1A1F9C"/>
                </a:solidFill>
                <a:latin typeface="Calibri"/>
              </a:rPr>
              <a:t>Visão Computacional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846320"/>
            <a:ext cx="10911535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50" b="0" i="0">
                <a:solidFill>
                  <a:srgbClr val="181818"/>
                </a:solidFill>
                <a:latin typeface="Calibri"/>
              </a:rPr>
              <a:t>•  </a:t>
            </a:r>
            <a:r>
              <a:rPr sz="1550" b="0" i="0">
                <a:solidFill>
                  <a:srgbClr val="181818"/>
                </a:solidFill>
                <a:latin typeface="Calibri"/>
              </a:rPr>
              <a:t>Dispensa qualquer instrumentação além de uma câmera comum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50" b="0" i="0">
                <a:solidFill>
                  <a:srgbClr val="181818"/>
                </a:solidFill>
                <a:latin typeface="Calibri"/>
              </a:rPr>
              <a:t>•  </a:t>
            </a:r>
            <a:r>
              <a:rPr sz="1550" b="0" i="0">
                <a:solidFill>
                  <a:srgbClr val="181818"/>
                </a:solidFill>
                <a:latin typeface="Calibri"/>
              </a:rPr>
              <a:t>OpenPose (</a:t>
            </a:r>
            <a:r>
              <a:rPr sz="1550" b="0" i="1">
                <a:solidFill>
                  <a:srgbClr val="181818"/>
                </a:solidFill>
                <a:latin typeface="Calibri"/>
              </a:rPr>
              <a:t>bottom-up</a:t>
            </a:r>
            <a:r>
              <a:rPr sz="1550" b="0" i="0">
                <a:solidFill>
                  <a:srgbClr val="181818"/>
                </a:solidFill>
                <a:latin typeface="Calibri"/>
              </a:rPr>
              <a:t>, 18/25 pontos) vs. </a:t>
            </a:r>
            <a:r>
              <a:rPr sz="1550" b="1" i="0">
                <a:solidFill>
                  <a:srgbClr val="181818"/>
                </a:solidFill>
                <a:latin typeface="Calibri"/>
              </a:rPr>
              <a:t>MediaPipe/BlazePose</a:t>
            </a:r>
            <a:r>
              <a:rPr sz="1550" b="0" i="0">
                <a:solidFill>
                  <a:srgbClr val="181818"/>
                </a:solidFill>
                <a:latin typeface="Calibri"/>
              </a:rPr>
              <a:t> (33 pontos, até 75× mais rápido em CPU móvel) — usado neste trabalho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50" b="0" i="0">
                <a:solidFill>
                  <a:srgbClr val="181818"/>
                </a:solidFill>
                <a:latin typeface="Calibri"/>
              </a:rPr>
              <a:t>•  </a:t>
            </a:r>
            <a:r>
              <a:rPr sz="1550" b="0" i="0">
                <a:solidFill>
                  <a:srgbClr val="181818"/>
                </a:solidFill>
                <a:latin typeface="Calibri"/>
              </a:rPr>
              <a:t>Posição de câmera também afeta a estimativa de pose (Aguilar-Ortega et al., 2023): diferença </a:t>
            </a:r>
            <a:r>
              <a:rPr sz="1550" b="1" i="0">
                <a:solidFill>
                  <a:srgbClr val="181818"/>
                </a:solidFill>
                <a:latin typeface="Calibri"/>
              </a:rPr>
              <a:t>estatisticamente significativa</a:t>
            </a:r>
            <a:r>
              <a:rPr sz="1550" b="0" i="0">
                <a:solidFill>
                  <a:srgbClr val="181818"/>
                </a:solidFill>
                <a:latin typeface="Calibri"/>
              </a:rPr>
              <a:t> entre ângulos de câmera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14205E"/>
                </a:solidFill>
                <a:latin typeface="Georgia"/>
              </a:rPr>
              <a:t>Revisão Tecnológica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1" i="0">
                <a:solidFill>
                  <a:srgbClr val="1A1F9C"/>
                </a:solidFill>
                <a:latin typeface="Calibri"/>
              </a:rPr>
              <a:t>Pose Trainer — Chen e Yang (2020)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5615" y="256032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6B76"/>
                </a:solidFill>
                <a:latin typeface="Calibri"/>
              </a:rPr>
              <a:t>Outubro de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6B76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73352"/>
            <a:ext cx="10911535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0" i="0">
                <a:solidFill>
                  <a:srgbClr val="181818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81818"/>
                </a:solidFill>
                <a:latin typeface="Calibri"/>
              </a:rPr>
              <a:t>OpenPose + regras geométricas manuais + comparação por </a:t>
            </a:r>
            <a:r>
              <a:rPr sz="1600" b="0" i="1">
                <a:solidFill>
                  <a:srgbClr val="181818"/>
                </a:solidFill>
                <a:latin typeface="Calibri"/>
              </a:rPr>
              <a:t>Dynamic Time Warping</a:t>
            </a:r>
            <a:r>
              <a:rPr sz="1600" b="0" i="0">
                <a:solidFill>
                  <a:srgbClr val="181818"/>
                </a:solidFill>
                <a:latin typeface="Calibri"/>
              </a:rPr>
              <a:t> (DTW) / kNN contra trajetórias de referência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0" i="0">
                <a:solidFill>
                  <a:srgbClr val="181818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81818"/>
                </a:solidFill>
                <a:latin typeface="Calibri"/>
              </a:rPr>
              <a:t>4 exercícios com halteres; F1-score entre </a:t>
            </a:r>
            <a:r>
              <a:rPr sz="1600" b="1" i="0">
                <a:solidFill>
                  <a:srgbClr val="181818"/>
                </a:solidFill>
                <a:latin typeface="Calibri"/>
              </a:rPr>
              <a:t>0,73 e 1,00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0" i="0">
                <a:solidFill>
                  <a:srgbClr val="181818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81818"/>
                </a:solidFill>
                <a:latin typeface="Calibri"/>
              </a:rPr>
              <a:t>Origem do dataset de treino usado neste trabalho</a:t>
            </a:r>
            <a:r>
              <a:rPr sz="1600" b="0" i="0">
                <a:solidFill>
                  <a:srgbClr val="181818"/>
                </a:solidFill>
                <a:latin typeface="Calibri"/>
              </a:rPr>
              <a:t> (elevação frontal e rosca bíceps)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3192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1" i="0">
                <a:solidFill>
                  <a:srgbClr val="1A1F9C"/>
                </a:solidFill>
                <a:latin typeface="Calibri"/>
              </a:rPr>
              <a:t>Trabalhos Recentes (2021+)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434840"/>
            <a:ext cx="10911535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0" i="0">
                <a:solidFill>
                  <a:srgbClr val="181818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81818"/>
                </a:solidFill>
                <a:latin typeface="Calibri"/>
              </a:rPr>
              <a:t>Parmar, Gharat e Rhodin (2022): avaliação </a:t>
            </a:r>
            <a:r>
              <a:rPr sz="1600" b="0" i="1">
                <a:solidFill>
                  <a:srgbClr val="181818"/>
                </a:solidFill>
                <a:latin typeface="Calibri"/>
              </a:rPr>
              <a:t>self-supervised</a:t>
            </a:r>
            <a:r>
              <a:rPr sz="1600" b="0" i="0">
                <a:solidFill>
                  <a:srgbClr val="181818"/>
                </a:solidFill>
                <a:latin typeface="Calibri"/>
              </a:rPr>
              <a:t> de erro de forma, direto do vídeo, sem regras manuais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0" i="0">
                <a:solidFill>
                  <a:srgbClr val="181818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81818"/>
                </a:solidFill>
                <a:latin typeface="Calibri"/>
              </a:rPr>
              <a:t>Dittakavi et al. (2022) — Pose Tutor: sistema </a:t>
            </a:r>
            <a:r>
              <a:rPr sz="1600" b="1" i="0">
                <a:solidFill>
                  <a:srgbClr val="181818"/>
                </a:solidFill>
                <a:latin typeface="Calibri"/>
              </a:rPr>
              <a:t>explicável</a:t>
            </a:r>
            <a:r>
              <a:rPr sz="1600" b="0" i="0">
                <a:solidFill>
                  <a:srgbClr val="181818"/>
                </a:solidFill>
                <a:latin typeface="Calibri"/>
              </a:rPr>
              <a:t>, aponta qual articulação causou o erro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14205E"/>
                </a:solidFill>
                <a:latin typeface="Georgia"/>
              </a:rPr>
              <a:t>Posicionamento deste Trabalho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256032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6B76"/>
                </a:solidFill>
                <a:latin typeface="Calibri"/>
              </a:rPr>
              <a:t>Outubro de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6B76"/>
                </a:solidFill>
                <a:latin typeface="Calibri"/>
              </a:rP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00200"/>
          <a:ext cx="1088136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743200"/>
                <a:gridCol w="3108960"/>
              </a:tblGrid>
              <a:tr h="716280"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14205E"/>
                          </a:solidFill>
                          <a:latin typeface="Calibri"/>
                        </a:rPr>
                        <a:t>Eixo</a:t>
                      </a:r>
                    </a:p>
                  </a:txBody>
                  <a:tcPr marL="76200" marR="76200" marT="50800" marB="50800" anchor="ctr">
                    <a:solidFill>
                      <a:srgbClr val="DDD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14205E"/>
                          </a:solidFill>
                          <a:latin typeface="Calibri"/>
                        </a:rPr>
                        <a:t>Velloso et al.</a:t>
                      </a:r>
                    </a:p>
                  </a:txBody>
                  <a:tcPr marL="76200" marR="76200" marT="50800" marB="50800" anchor="ctr">
                    <a:solidFill>
                      <a:srgbClr val="DDD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14205E"/>
                          </a:solidFill>
                          <a:latin typeface="Calibri"/>
                        </a:rPr>
                        <a:t>Pose Trainer</a:t>
                      </a:r>
                    </a:p>
                  </a:txBody>
                  <a:tcPr marL="76200" marR="76200" marT="50800" marB="50800" anchor="ctr">
                    <a:solidFill>
                      <a:srgbClr val="DDD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14205E"/>
                          </a:solidFill>
                          <a:latin typeface="Calibri"/>
                        </a:rPr>
                        <a:t>Este trabalho</a:t>
                      </a:r>
                    </a:p>
                  </a:txBody>
                  <a:tcPr marL="76200" marR="76200" marT="50800" marB="50800" anchor="ctr">
                    <a:solidFill>
                      <a:srgbClr val="DDDFEC"/>
                    </a:solidFill>
                  </a:tcPr>
                </a:tc>
              </a:tr>
              <a:tr h="71628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81818"/>
                          </a:solidFill>
                          <a:latin typeface="Calibri"/>
                        </a:rPr>
                        <a:t>Sensor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81818"/>
                          </a:solidFill>
                          <a:latin typeface="Calibri"/>
                        </a:rPr>
                        <a:t>IMU vestível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81818"/>
                          </a:solidFill>
                          <a:latin typeface="Calibri"/>
                        </a:rPr>
                        <a:t>Câmera de smartphone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81818"/>
                          </a:solidFill>
                          <a:latin typeface="Calibri"/>
                        </a:rPr>
                        <a:t>Câmera de smartphone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81818"/>
                          </a:solidFill>
                          <a:latin typeface="Calibri"/>
                        </a:rPr>
                        <a:t>Estratégia de decisão</a:t>
                      </a:r>
                    </a:p>
                  </a:txBody>
                  <a:tcPr marL="76200" marR="76200" marT="50800" marB="50800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81818"/>
                          </a:solidFill>
                          <a:latin typeface="Calibri"/>
                        </a:rPr>
                        <a:t>Classificador sobre séries temporais</a:t>
                      </a:r>
                    </a:p>
                  </a:txBody>
                  <a:tcPr marL="76200" marR="76200" marT="50800" marB="50800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81818"/>
                          </a:solidFill>
                          <a:latin typeface="Calibri"/>
                        </a:rPr>
                        <a:t>Regras + DTW/kNN</a:t>
                      </a:r>
                    </a:p>
                  </a:txBody>
                  <a:tcPr marL="76200" marR="76200" marT="50800" marB="50800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81818"/>
                          </a:solidFill>
                          <a:latin typeface="Calibri"/>
                        </a:rPr>
                        <a:t>Classificador (RF/SVM) sobre o quadro de pico</a:t>
                      </a:r>
                    </a:p>
                  </a:txBody>
                  <a:tcPr marL="76200" marR="76200" marT="50800" marB="50800" anchor="ctr">
                    <a:solidFill>
                      <a:srgbClr val="F6F7FB"/>
                    </a:solidFill>
                  </a:tcPr>
                </a:tc>
              </a:tr>
              <a:tr h="71628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81818"/>
                          </a:solidFill>
                          <a:latin typeface="Calibri"/>
                        </a:rPr>
                        <a:t>Feedback ao usuário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81818"/>
                          </a:solidFill>
                          <a:latin typeface="Calibri"/>
                        </a:rPr>
                        <a:t>Classe de erro (A–E)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81818"/>
                          </a:solidFill>
                          <a:latin typeface="Calibri"/>
                        </a:rPr>
                        <a:t>Qual erro geométrico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81818"/>
                          </a:solidFill>
                          <a:latin typeface="Calibri"/>
                        </a:rPr>
                        <a:t>Só correto/incorreto + confiança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81818"/>
                          </a:solidFill>
                          <a:latin typeface="Calibri"/>
                        </a:rPr>
                        <a:t>Origem do dataset</a:t>
                      </a:r>
                    </a:p>
                  </a:txBody>
                  <a:tcPr marL="76200" marR="76200" marT="50800" marB="50800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81818"/>
                          </a:solidFill>
                          <a:latin typeface="Calibri"/>
                        </a:rPr>
                        <a:t>Coletado pelos autores</a:t>
                      </a:r>
                    </a:p>
                  </a:txBody>
                  <a:tcPr marL="76200" marR="76200" marT="50800" marB="50800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81818"/>
                          </a:solidFill>
                          <a:latin typeface="Calibri"/>
                        </a:rPr>
                        <a:t>Coletado pelos autores</a:t>
                      </a:r>
                    </a:p>
                  </a:txBody>
                  <a:tcPr marL="76200" marR="76200" marT="50800" marB="50800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81818"/>
                          </a:solidFill>
                          <a:latin typeface="Calibri"/>
                        </a:rPr>
                        <a:t>Reaproveitado de terceiros (Pose Trainer)</a:t>
                      </a:r>
                    </a:p>
                  </a:txBody>
                  <a:tcPr marL="76200" marR="76200" marT="50800" marB="50800" anchor="ctr">
                    <a:solidFill>
                      <a:srgbClr val="F6F7FB"/>
                    </a:solidFill>
                  </a:tcPr>
                </a:tc>
              </a:tr>
              <a:tr h="71628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81818"/>
                          </a:solidFill>
                          <a:latin typeface="Calibri"/>
                        </a:rPr>
                        <a:t>Restrição computacional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81818"/>
                          </a:solidFill>
                          <a:latin typeface="Calibri"/>
                        </a:rPr>
                        <a:t>Não se aplica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81818"/>
                          </a:solidFill>
                          <a:latin typeface="Calibri"/>
                        </a:rPr>
                        <a:t>Ambiente de pesquisa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81818"/>
                          </a:solidFill>
                          <a:latin typeface="Calibri"/>
                        </a:rPr>
                        <a:t>Nuvem sem GPU (Azure App Service B1)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03504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6B6B76"/>
                </a:solidFill>
                <a:latin typeface="Calibri"/>
              </a:rPr>
              <a:t>Tabela completa com 8 eixos de comparação no artigo (Seção 2.4).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14205E"/>
                </a:solidFill>
                <a:latin typeface="Georgia"/>
              </a:rPr>
              <a:t>Arquitetura do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256032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6B76"/>
                </a:solidFill>
                <a:latin typeface="Calibri"/>
              </a:rPr>
              <a:t>Outubro de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6B76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600" b="0" i="0">
                <a:solidFill>
                  <a:srgbClr val="181818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81818"/>
                </a:solidFill>
                <a:latin typeface="Calibri"/>
              </a:rPr>
              <a:t>3 componentes: </a:t>
            </a:r>
            <a:r>
              <a:rPr sz="1600" b="1" i="0">
                <a:solidFill>
                  <a:srgbClr val="181818"/>
                </a:solidFill>
                <a:latin typeface="Calibri"/>
              </a:rPr>
              <a:t>app móvel</a:t>
            </a:r>
            <a:r>
              <a:rPr sz="1600" b="0" i="0">
                <a:solidFill>
                  <a:srgbClr val="181818"/>
                </a:solidFill>
                <a:latin typeface="Calibri"/>
              </a:rPr>
              <a:t> (cliente), </a:t>
            </a:r>
            <a:r>
              <a:rPr sz="1600" b="1" i="0">
                <a:solidFill>
                  <a:srgbClr val="181818"/>
                </a:solidFill>
                <a:latin typeface="Calibri"/>
              </a:rPr>
              <a:t>backend</a:t>
            </a:r>
            <a:r>
              <a:rPr sz="1600" b="0" i="0">
                <a:solidFill>
                  <a:srgbClr val="181818"/>
                </a:solidFill>
                <a:latin typeface="Calibri"/>
              </a:rPr>
              <a:t> (HTTP + WebSocket) e </a:t>
            </a:r>
            <a:r>
              <a:rPr sz="1600" b="1" i="0">
                <a:solidFill>
                  <a:srgbClr val="181818"/>
                </a:solidFill>
                <a:latin typeface="Calibri"/>
              </a:rPr>
              <a:t>módulo de ML</a:t>
            </a:r>
            <a:r>
              <a:rPr sz="1600" b="0" i="0">
                <a:solidFill>
                  <a:srgbClr val="181818"/>
                </a:solidFill>
                <a:latin typeface="Calibri"/>
              </a:rPr>
              <a:t> — executado no mesmo processo do backend, não como serviço separado</a:t>
            </a:r>
          </a:p>
        </p:txBody>
      </p:sp>
      <p:pic>
        <p:nvPicPr>
          <p:cNvPr id="7" name="Picture 6" descr="diagrama_arquitetur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7851" y="2286000"/>
            <a:ext cx="6355992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14205E"/>
                </a:solidFill>
                <a:latin typeface="Georgia"/>
              </a:rPr>
              <a:t>Aplicativo Móvel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1" i="0">
                <a:solidFill>
                  <a:srgbClr val="1A1F9C"/>
                </a:solidFill>
                <a:latin typeface="Calibri"/>
              </a:rPr>
              <a:t>React Native + Expo (Android)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5615" y="256032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6B76"/>
                </a:solidFill>
                <a:latin typeface="Calibri"/>
              </a:rPr>
              <a:t>Outubro de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6B76"/>
                </a:solidFill>
                <a:latin typeface="Calibr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73352"/>
            <a:ext cx="10911535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800" b="0" i="0">
                <a:solidFill>
                  <a:srgbClr val="181818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181818"/>
                </a:solidFill>
                <a:latin typeface="Calibri"/>
              </a:rPr>
              <a:t>Autenticação de usuário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800" b="0" i="0">
                <a:solidFill>
                  <a:srgbClr val="181818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181818"/>
                </a:solidFill>
                <a:latin typeface="Calibri"/>
              </a:rPr>
              <a:t>Cadastro de exercícios e montagem de fichas de treino (séries, repetições, carga)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800" b="0" i="0">
                <a:solidFill>
                  <a:srgbClr val="181818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181818"/>
                </a:solidFill>
                <a:latin typeface="Calibri"/>
              </a:rPr>
              <a:t>Execução de sessões com cronômetro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800" b="0" i="0">
                <a:solidFill>
                  <a:srgbClr val="181818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181818"/>
                </a:solidFill>
                <a:latin typeface="Calibri"/>
              </a:rPr>
              <a:t>Histórico e estatísticas mensais de treino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800" b="0" i="0">
                <a:solidFill>
                  <a:srgbClr val="181818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181818"/>
                </a:solidFill>
                <a:latin typeface="Calibri"/>
              </a:rPr>
              <a:t>Tela do detector: grava ou seleciona um vídeo para análise de execução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6692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1A1F9C"/>
                </a:solidFill>
                <a:latin typeface="Calibri"/>
              </a:rPr>
              <a:t>Comunicação com o 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8076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450" b="0" i="0">
                <a:solidFill>
                  <a:srgbClr val="181818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181818"/>
                </a:solidFill>
                <a:latin typeface="Calibri"/>
              </a:rPr>
              <a:t>HTTP (API REST, </a:t>
            </a:r>
            <a:r>
              <a:rPr sz="1450" b="0" i="1">
                <a:solidFill>
                  <a:srgbClr val="181818"/>
                </a:solidFill>
                <a:latin typeface="Calibri"/>
              </a:rPr>
              <a:t>token</a:t>
            </a:r>
            <a:r>
              <a:rPr sz="1450" b="0" i="0">
                <a:solidFill>
                  <a:srgbClr val="181818"/>
                </a:solidFill>
                <a:latin typeface="Calibri"/>
              </a:rPr>
              <a:t> JWT) e, no detector, também WebSocket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14205E"/>
                </a:solidFill>
                <a:latin typeface="Georgia"/>
              </a:rPr>
              <a:t>Diagrama de Casos de Uso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256032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6B76"/>
                </a:solidFill>
                <a:latin typeface="Calibri"/>
              </a:rPr>
              <a:t>Outubro de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6B76"/>
                </a:solidFill>
                <a:latin typeface="Calibri"/>
              </a:rPr>
              <a:t>10</a:t>
            </a:r>
          </a:p>
        </p:txBody>
      </p:sp>
      <p:pic>
        <p:nvPicPr>
          <p:cNvPr id="6" name="Picture 5" descr="diagrama_use_cas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2741" y="960120"/>
            <a:ext cx="7366212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14205E"/>
                </a:solidFill>
                <a:latin typeface="Georgia"/>
              </a:rPr>
              <a:t>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256032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6B76"/>
                </a:solidFill>
                <a:latin typeface="Calibri"/>
              </a:rPr>
              <a:t>Outubro de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6B76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911535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800" b="0" i="0">
                <a:solidFill>
                  <a:srgbClr val="181818"/>
                </a:solidFill>
                <a:latin typeface="Calibri"/>
              </a:rPr>
              <a:t>•  </a:t>
            </a:r>
            <a:r>
              <a:rPr sz="1800" b="1" i="0">
                <a:solidFill>
                  <a:srgbClr val="181818"/>
                </a:solidFill>
                <a:latin typeface="Calibri"/>
              </a:rPr>
              <a:t>FastAPI</a:t>
            </a:r>
            <a:r>
              <a:rPr sz="1800" b="0" i="0">
                <a:solidFill>
                  <a:srgbClr val="181818"/>
                </a:solidFill>
                <a:latin typeface="Calibri"/>
              </a:rPr>
              <a:t> (Python) — rotas assíncronas (relevante para o processamento de vídeo) + documentação automática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800" b="0" i="0">
                <a:solidFill>
                  <a:srgbClr val="181818"/>
                </a:solidFill>
                <a:latin typeface="Calibri"/>
              </a:rPr>
              <a:t>•  </a:t>
            </a:r>
            <a:r>
              <a:rPr sz="1800" b="1" i="0">
                <a:solidFill>
                  <a:srgbClr val="181818"/>
                </a:solidFill>
                <a:latin typeface="Calibri"/>
              </a:rPr>
              <a:t>SQLAlchemy</a:t>
            </a:r>
            <a:r>
              <a:rPr sz="1800" b="0" i="0">
                <a:solidFill>
                  <a:srgbClr val="181818"/>
                </a:solidFill>
                <a:latin typeface="Calibri"/>
              </a:rPr>
              <a:t> como ORM — SQLite em desenvolvimento, </a:t>
            </a:r>
            <a:r>
              <a:rPr sz="1800" b="1" i="0">
                <a:solidFill>
                  <a:srgbClr val="181818"/>
                </a:solidFill>
                <a:latin typeface="Calibri"/>
              </a:rPr>
              <a:t>PostgreSQL em produção</a:t>
            </a:r>
            <a:r>
              <a:rPr sz="1800" b="0" i="0">
                <a:solidFill>
                  <a:srgbClr val="181818"/>
                </a:solidFill>
                <a:latin typeface="Calibri"/>
              </a:rPr>
              <a:t>; migrações com Alembic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800" b="0" i="0">
                <a:solidFill>
                  <a:srgbClr val="181818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181818"/>
                </a:solidFill>
                <a:latin typeface="Calibri"/>
              </a:rPr>
              <a:t>Autenticação com </a:t>
            </a:r>
            <a:r>
              <a:rPr sz="1800" b="1" i="0">
                <a:solidFill>
                  <a:srgbClr val="181818"/>
                </a:solidFill>
                <a:latin typeface="Calibri"/>
              </a:rPr>
              <a:t>JWT</a:t>
            </a:r>
            <a:r>
              <a:rPr sz="1800" b="0" i="0">
                <a:solidFill>
                  <a:srgbClr val="181818"/>
                </a:solidFill>
                <a:latin typeface="Calibri"/>
              </a:rPr>
              <a:t> (</a:t>
            </a:r>
            <a:r>
              <a:rPr sz="1800" b="0" i="1">
                <a:solidFill>
                  <a:srgbClr val="181818"/>
                </a:solidFill>
                <a:latin typeface="Calibri"/>
              </a:rPr>
              <a:t>python-jose</a:t>
            </a:r>
            <a:r>
              <a:rPr sz="1800" b="0" i="0">
                <a:solidFill>
                  <a:srgbClr val="181818"/>
                </a:solidFill>
                <a:latin typeface="Calibri"/>
              </a:rPr>
              <a:t>) e senhas com </a:t>
            </a:r>
            <a:r>
              <a:rPr sz="1800" b="0" i="1">
                <a:solidFill>
                  <a:srgbClr val="181818"/>
                </a:solidFill>
                <a:latin typeface="Calibri"/>
              </a:rPr>
              <a:t>hash</a:t>
            </a:r>
            <a:r>
              <a:rPr sz="1800" b="0" i="0">
                <a:solidFill>
                  <a:srgbClr val="181818"/>
                </a:solidFill>
                <a:latin typeface="Calibri"/>
              </a:rPr>
              <a:t> </a:t>
            </a:r>
            <a:r>
              <a:rPr sz="1800" b="1" i="0">
                <a:solidFill>
                  <a:srgbClr val="181818"/>
                </a:solidFill>
                <a:latin typeface="Calibri"/>
              </a:rPr>
              <a:t>bcrypt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800" b="0" i="0">
                <a:solidFill>
                  <a:srgbClr val="181818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181818"/>
                </a:solidFill>
                <a:latin typeface="Calibri"/>
              </a:rPr>
              <a:t>Modelo de dados: usuários, exercícios, treinos e sessões — cada série com o registro real de peso/repetições executados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14205E"/>
                </a:solidFill>
                <a:latin typeface="Georgia"/>
              </a:rPr>
              <a:t>Detecção de Execução de Exercícios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1" i="0">
                <a:solidFill>
                  <a:srgbClr val="1A1F9C"/>
                </a:solidFill>
                <a:latin typeface="Calibri"/>
              </a:rPr>
              <a:t>Estimativa de Pose e Extração de Características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5615" y="256032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6B76"/>
                </a:solidFill>
                <a:latin typeface="Calibri"/>
              </a:rPr>
              <a:t>Outubro de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6B76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73352"/>
            <a:ext cx="1091153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50" b="0" i="0">
                <a:solidFill>
                  <a:srgbClr val="181818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181818"/>
                </a:solidFill>
                <a:latin typeface="Calibri"/>
              </a:rPr>
              <a:t>Cada quadro processado com </a:t>
            </a:r>
            <a:r>
              <a:rPr sz="1650" b="1" i="0">
                <a:solidFill>
                  <a:srgbClr val="181818"/>
                </a:solidFill>
                <a:latin typeface="Calibri"/>
              </a:rPr>
              <a:t>MediaPipe Pose</a:t>
            </a:r>
            <a:r>
              <a:rPr sz="1650" b="0" i="0">
                <a:solidFill>
                  <a:srgbClr val="181818"/>
                </a:solidFill>
                <a:latin typeface="Calibri"/>
              </a:rPr>
              <a:t> (via OpenCV) → 33 pontos-chave 2D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50" b="0" i="0">
                <a:solidFill>
                  <a:srgbClr val="181818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181818"/>
                </a:solidFill>
                <a:latin typeface="Calibri"/>
              </a:rPr>
              <a:t>Ângulos articulares + alturas relativas do punho, </a:t>
            </a:r>
            <a:r>
              <a:rPr sz="1650" b="1" i="0">
                <a:solidFill>
                  <a:srgbClr val="181818"/>
                </a:solidFill>
                <a:latin typeface="Calibri"/>
              </a:rPr>
              <a:t>normalizados</a:t>
            </a:r>
            <a:r>
              <a:rPr sz="1650" b="0" i="0">
                <a:solidFill>
                  <a:srgbClr val="181818"/>
                </a:solidFill>
                <a:latin typeface="Calibri"/>
              </a:rPr>
              <a:t> pela distância ombro–quadril do próprio usuário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50" b="0" i="0">
                <a:solidFill>
                  <a:srgbClr val="181818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181818"/>
                </a:solidFill>
                <a:latin typeface="Calibri"/>
              </a:rPr>
              <a:t>Cada exercício tem seu próprio conjunto de características e sua própria regra de "repouso" (delimita início/fim de cada repetição)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4340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1" i="0">
                <a:solidFill>
                  <a:srgbClr val="1A1F9C"/>
                </a:solidFill>
                <a:latin typeface="Calibri"/>
              </a:rPr>
              <a:t>Características por Exercício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4800600"/>
          <a:ext cx="10881359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7955279"/>
              </a:tblGrid>
              <a:tr h="487680"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14205E"/>
                          </a:solidFill>
                          <a:latin typeface="Calibri"/>
                        </a:rPr>
                        <a:t>Exercício</a:t>
                      </a:r>
                    </a:p>
                  </a:txBody>
                  <a:tcPr marL="76200" marR="76200" marT="50800" marB="50800" anchor="ctr">
                    <a:solidFill>
                      <a:srgbClr val="DDD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14205E"/>
                          </a:solidFill>
                          <a:latin typeface="Calibri"/>
                        </a:rPr>
                        <a:t>Características</a:t>
                      </a:r>
                    </a:p>
                  </a:txBody>
                  <a:tcPr marL="76200" marR="76200" marT="50800" marB="50800" anchor="ctr">
                    <a:solidFill>
                      <a:srgbClr val="DDDFEC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81818"/>
                          </a:solidFill>
                          <a:latin typeface="Calibri"/>
                        </a:rPr>
                        <a:t>Elevação Frontal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81818"/>
                          </a:solidFill>
                          <a:latin typeface="Calibri"/>
                        </a:rPr>
                        <a:t>7 — ângulo de braço e cotovelo (cada lado), altura de punho, assimetria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81818"/>
                          </a:solidFill>
                          <a:latin typeface="Calibri"/>
                        </a:rPr>
                        <a:t>Rosca Bíceps</a:t>
                      </a:r>
                    </a:p>
                  </a:txBody>
                  <a:tcPr marL="76200" marR="76200" marT="50800" marB="50800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81818"/>
                          </a:solidFill>
                          <a:latin typeface="Calibri"/>
                        </a:rPr>
                        <a:t>3 — ângulo de cotovelo, ângulo de braço, altura de punho (lado mais visível)</a:t>
                      </a:r>
                    </a:p>
                  </a:txBody>
                  <a:tcPr marL="76200" marR="76200" marT="50800" marB="50800" anchor="ctr">
                    <a:solidFill>
                      <a:srgbClr val="F6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14205E"/>
                </a:solidFill>
                <a:latin typeface="Georgia"/>
              </a:rPr>
              <a:t>Detecção de Execução de Exercícios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1" i="0">
                <a:solidFill>
                  <a:srgbClr val="1A1F9C"/>
                </a:solidFill>
                <a:latin typeface="Calibri"/>
              </a:rPr>
              <a:t>Classificação Supervisionada por Exercício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5615" y="256032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6B76"/>
                </a:solidFill>
                <a:latin typeface="Calibri"/>
              </a:rPr>
              <a:t>Outubro de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6B76"/>
                </a:solidFill>
                <a:latin typeface="Calibr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73352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700" b="0" i="0">
                <a:solidFill>
                  <a:srgbClr val="181818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181818"/>
                </a:solidFill>
                <a:latin typeface="Calibri"/>
              </a:rPr>
              <a:t>Inferência: classifica o </a:t>
            </a:r>
            <a:r>
              <a:rPr sz="1700" b="1" i="0">
                <a:solidFill>
                  <a:srgbClr val="181818"/>
                </a:solidFill>
                <a:latin typeface="Calibri"/>
              </a:rPr>
              <a:t>quadro de pico</a:t>
            </a:r>
            <a:r>
              <a:rPr sz="1700" b="0" i="0">
                <a:solidFill>
                  <a:srgbClr val="181818"/>
                </a:solidFill>
                <a:latin typeface="Calibri"/>
              </a:rPr>
              <a:t> da repetição — o de maior ângulo de braço (elevação frontal) ou maior flexão de cotovelo (rosca bíceps)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700" b="0" i="0">
                <a:solidFill>
                  <a:srgbClr val="181818"/>
                </a:solidFill>
                <a:latin typeface="Calibri"/>
              </a:rPr>
              <a:t>•  </a:t>
            </a:r>
            <a:r>
              <a:rPr sz="1700" b="1" i="0">
                <a:solidFill>
                  <a:srgbClr val="181818"/>
                </a:solidFill>
                <a:latin typeface="Calibri"/>
              </a:rPr>
              <a:t>Elevação Frontal:</a:t>
            </a:r>
            <a:r>
              <a:rPr sz="1700" b="0" i="0">
                <a:solidFill>
                  <a:srgbClr val="181818"/>
                </a:solidFill>
                <a:latin typeface="Calibri"/>
              </a:rPr>
              <a:t> Random Forest fixo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700" b="0" i="0">
                <a:solidFill>
                  <a:srgbClr val="181818"/>
                </a:solidFill>
                <a:latin typeface="Calibri"/>
              </a:rPr>
              <a:t>•  </a:t>
            </a:r>
            <a:r>
              <a:rPr sz="1700" b="1" i="0">
                <a:solidFill>
                  <a:srgbClr val="181818"/>
                </a:solidFill>
                <a:latin typeface="Calibri"/>
              </a:rPr>
              <a:t>Rosca Bíceps:</a:t>
            </a:r>
            <a:r>
              <a:rPr sz="1700" b="0" i="0">
                <a:solidFill>
                  <a:srgbClr val="181818"/>
                </a:solidFill>
                <a:latin typeface="Calibri"/>
              </a:rPr>
              <a:t> escolha automática entre Random Forest, Gradient Boosting e SVM (validação cruzada 5-fold, F1 macro) → modelo atual é um </a:t>
            </a:r>
            <a:r>
              <a:rPr sz="1700" b="1" i="0">
                <a:solidFill>
                  <a:srgbClr val="181818"/>
                </a:solidFill>
                <a:latin typeface="Calibri"/>
              </a:rPr>
              <a:t>SVM com kernel RBF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46320"/>
            <a:ext cx="1091153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0" i="0">
                <a:solidFill>
                  <a:srgbClr val="181818"/>
                </a:solidFill>
                <a:latin typeface="Calibri"/>
              </a:rPr>
              <a:t>Quadro de pico, formalmente:</a:t>
            </a:r>
          </a:p>
          <a:p>
            <a:pPr>
              <a:spcBef>
                <a:spcPts val="800"/>
              </a:spcBef>
            </a:pPr>
            <a:r>
              <a:rPr sz="2000" b="1" i="0">
                <a:solidFill>
                  <a:srgbClr val="14205E"/>
                </a:solidFill>
                <a:latin typeface="Georgia"/>
              </a:rPr>
              <a:t>quadro classificado = arg maxₜ iₜ</a:t>
            </a:r>
          </a:p>
          <a:p>
            <a:pPr>
              <a:spcBef>
                <a:spcPts val="600"/>
              </a:spcBef>
            </a:pPr>
            <a:r>
              <a:rPr sz="1300" b="0" i="1">
                <a:solidFill>
                  <a:srgbClr val="6B6B76"/>
                </a:solidFill>
                <a:latin typeface="Calibri"/>
              </a:rPr>
              <a:t>iₜ = métrica de intensidade do exercício no quadro t da repetição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14205E"/>
                </a:solidFill>
                <a:latin typeface="Georgia"/>
              </a:rPr>
              <a:t>Dataset de Treino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256032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6B76"/>
                </a:solidFill>
                <a:latin typeface="Calibri"/>
              </a:rPr>
              <a:t>Outubro de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6B76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91153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50" b="0" i="0">
                <a:solidFill>
                  <a:srgbClr val="181818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181818"/>
                </a:solidFill>
                <a:latin typeface="Calibri"/>
              </a:rPr>
              <a:t>Dataset público do projeto </a:t>
            </a:r>
            <a:r>
              <a:rPr sz="1650" b="1" i="0">
                <a:solidFill>
                  <a:srgbClr val="181818"/>
                </a:solidFill>
                <a:latin typeface="Calibri"/>
              </a:rPr>
              <a:t>Pose Trainer</a:t>
            </a:r>
            <a:r>
              <a:rPr sz="1650" b="0" i="0">
                <a:solidFill>
                  <a:srgbClr val="181818"/>
                </a:solidFill>
                <a:latin typeface="Calibri"/>
              </a:rPr>
              <a:t>, extraído via OpenPose (formato BODY_18)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50" b="0" i="0">
                <a:solidFill>
                  <a:srgbClr val="181818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181818"/>
                </a:solidFill>
                <a:latin typeface="Calibri"/>
              </a:rPr>
              <a:t>Cada quadro válido do vídeo vira uma linha independente — </a:t>
            </a:r>
            <a:r>
              <a:rPr sz="1650" b="1" i="0">
                <a:solidFill>
                  <a:srgbClr val="181818"/>
                </a:solidFill>
                <a:latin typeface="Calibri"/>
              </a:rPr>
              <a:t>não há segmentação por repetição</a:t>
            </a:r>
            <a:r>
              <a:rPr sz="1650" b="0" i="0">
                <a:solidFill>
                  <a:srgbClr val="181818"/>
                </a:solidFill>
                <a:latin typeface="Calibri"/>
              </a:rPr>
              <a:t> no treino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3337560"/>
          <a:ext cx="108813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2560320"/>
                <a:gridCol w="2560320"/>
                <a:gridCol w="2651760"/>
              </a:tblGrid>
              <a:tr h="487680"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14205E"/>
                          </a:solidFill>
                          <a:latin typeface="Calibri"/>
                        </a:rPr>
                        <a:t>Exercício</a:t>
                      </a:r>
                    </a:p>
                  </a:txBody>
                  <a:tcPr marL="76200" marR="76200" marT="50800" marB="50800" anchor="ctr">
                    <a:solidFill>
                      <a:srgbClr val="DDD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14205E"/>
                          </a:solidFill>
                          <a:latin typeface="Calibri"/>
                        </a:rPr>
                        <a:t>Vídeos (bom/ruim)</a:t>
                      </a:r>
                    </a:p>
                  </a:txBody>
                  <a:tcPr marL="76200" marR="76200" marT="50800" marB="50800" anchor="ctr">
                    <a:solidFill>
                      <a:srgbClr val="DDD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14205E"/>
                          </a:solidFill>
                          <a:latin typeface="Calibri"/>
                        </a:rPr>
                        <a:t>Amostras (linhas)</a:t>
                      </a:r>
                    </a:p>
                  </a:txBody>
                  <a:tcPr marL="76200" marR="76200" marT="50800" marB="50800" anchor="ctr">
                    <a:solidFill>
                      <a:srgbClr val="DDD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14205E"/>
                          </a:solidFill>
                          <a:latin typeface="Calibri"/>
                        </a:rPr>
                        <a:t>Correto/Incorreto</a:t>
                      </a:r>
                    </a:p>
                  </a:txBody>
                  <a:tcPr marL="76200" marR="76200" marT="50800" marB="50800" anchor="ctr">
                    <a:solidFill>
                      <a:srgbClr val="DDDFEC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81818"/>
                          </a:solidFill>
                          <a:latin typeface="Calibri"/>
                        </a:rPr>
                        <a:t>Elevação Frontal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81818"/>
                          </a:solidFill>
                          <a:latin typeface="Calibri"/>
                        </a:rPr>
                        <a:t>15 / 13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81818"/>
                          </a:solidFill>
                          <a:latin typeface="Calibri"/>
                        </a:rPr>
                        <a:t>626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81818"/>
                          </a:solidFill>
                          <a:latin typeface="Calibri"/>
                        </a:rPr>
                        <a:t>343 / 283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81818"/>
                          </a:solidFill>
                          <a:latin typeface="Calibri"/>
                        </a:rPr>
                        <a:t>Rosca Bíceps</a:t>
                      </a:r>
                    </a:p>
                  </a:txBody>
                  <a:tcPr marL="76200" marR="76200" marT="50800" marB="50800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81818"/>
                          </a:solidFill>
                          <a:latin typeface="Calibri"/>
                        </a:rPr>
                        <a:t>6 / 10</a:t>
                      </a:r>
                    </a:p>
                  </a:txBody>
                  <a:tcPr marL="76200" marR="76200" marT="50800" marB="50800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81818"/>
                          </a:solidFill>
                          <a:latin typeface="Calibri"/>
                        </a:rPr>
                        <a:t>1158</a:t>
                      </a:r>
                    </a:p>
                  </a:txBody>
                  <a:tcPr marL="76200" marR="76200" marT="50800" marB="50800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81818"/>
                          </a:solidFill>
                          <a:latin typeface="Calibri"/>
                        </a:rPr>
                        <a:t>465 / 693</a:t>
                      </a:r>
                    </a:p>
                  </a:txBody>
                  <a:tcPr marL="76200" marR="76200" marT="50800" marB="50800" anchor="ctr">
                    <a:solidFill>
                      <a:srgbClr val="F6F7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212080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81818"/>
                </a:solidFill>
                <a:latin typeface="Calibri"/>
              </a:rPr>
              <a:t>Vídeos com execuções rotuladas como "correta" ou "incorreta" (ex.: flexão do cotovelo na elevação frontal, uso de momento do corpo na rosca bíceps)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14205E"/>
                </a:solidFill>
                <a:latin typeface="Georgia"/>
              </a:rPr>
              <a:t>Implantação em Nuvem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256032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6B76"/>
                </a:solidFill>
                <a:latin typeface="Calibri"/>
              </a:rPr>
              <a:t>Outubro de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6B76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911535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700" b="0" i="0">
                <a:solidFill>
                  <a:srgbClr val="181818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181818"/>
                </a:solidFill>
                <a:latin typeface="Calibri"/>
              </a:rPr>
              <a:t>Backend conteinerizado com </a:t>
            </a:r>
            <a:r>
              <a:rPr sz="1700" b="1" i="0">
                <a:solidFill>
                  <a:srgbClr val="181818"/>
                </a:solidFill>
                <a:latin typeface="Calibri"/>
              </a:rPr>
              <a:t>Docker</a:t>
            </a:r>
            <a:r>
              <a:rPr sz="1700" b="0" i="0">
                <a:solidFill>
                  <a:srgbClr val="181818"/>
                </a:solidFill>
                <a:latin typeface="Calibri"/>
              </a:rPr>
              <a:t> e implantado na </a:t>
            </a:r>
            <a:r>
              <a:rPr sz="1700" b="1" i="0">
                <a:solidFill>
                  <a:srgbClr val="181818"/>
                </a:solidFill>
                <a:latin typeface="Calibri"/>
              </a:rPr>
              <a:t>Microsoft Azure</a:t>
            </a:r>
            <a:r>
              <a:rPr sz="1700" b="0" i="0">
                <a:solidFill>
                  <a:srgbClr val="181818"/>
                </a:solidFill>
                <a:latin typeface="Calibri"/>
              </a:rPr>
              <a:t>: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700" b="0" i="0">
                <a:solidFill>
                  <a:srgbClr val="6B6B76"/>
                </a:solidFill>
                <a:latin typeface="Calibri"/>
              </a:rPr>
              <a:t>   •  </a:t>
            </a:r>
            <a:r>
              <a:rPr sz="1500" b="0" i="0">
                <a:solidFill>
                  <a:srgbClr val="6B6B76"/>
                </a:solidFill>
                <a:latin typeface="Calibri"/>
              </a:rPr>
              <a:t>Azure Container Registry — armazena a imagem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700" b="0" i="0">
                <a:solidFill>
                  <a:srgbClr val="6B6B76"/>
                </a:solidFill>
                <a:latin typeface="Calibri"/>
              </a:rPr>
              <a:t>   •  </a:t>
            </a:r>
            <a:r>
              <a:rPr sz="1500" b="0" i="0">
                <a:solidFill>
                  <a:srgbClr val="6B6B76"/>
                </a:solidFill>
                <a:latin typeface="Calibri"/>
              </a:rPr>
              <a:t>Azure App Service, camada B1 — executa o container (sem GPU)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700" b="0" i="0">
                <a:solidFill>
                  <a:srgbClr val="6B6B76"/>
                </a:solidFill>
                <a:latin typeface="Calibri"/>
              </a:rPr>
              <a:t>   •  </a:t>
            </a:r>
            <a:r>
              <a:rPr sz="1500" b="0" i="0">
                <a:solidFill>
                  <a:srgbClr val="6B6B76"/>
                </a:solidFill>
                <a:latin typeface="Calibri"/>
              </a:rPr>
              <a:t>Azure Database for PostgreSQL, camada B1ms — persistência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700" b="0" i="0">
                <a:solidFill>
                  <a:srgbClr val="181818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181818"/>
                </a:solidFill>
                <a:latin typeface="Calibri"/>
              </a:rPr>
              <a:t>App móvel compilado como pacote Android autônomo (</a:t>
            </a:r>
            <a:r>
              <a:rPr sz="1700" b="1" i="0">
                <a:solidFill>
                  <a:srgbClr val="181818"/>
                </a:solidFill>
                <a:latin typeface="Calibri"/>
              </a:rPr>
              <a:t>EAS Build</a:t>
            </a:r>
            <a:r>
              <a:rPr sz="1700" b="0" i="0">
                <a:solidFill>
                  <a:srgbClr val="181818"/>
                </a:solidFill>
                <a:latin typeface="Calibri"/>
              </a:rPr>
              <a:t>, perfil </a:t>
            </a:r>
            <a:r>
              <a:rPr sz="1700" b="0" i="1">
                <a:solidFill>
                  <a:srgbClr val="181818"/>
                </a:solidFill>
                <a:latin typeface="Calibri"/>
              </a:rPr>
              <a:t>preview</a:t>
            </a:r>
            <a:r>
              <a:rPr sz="1700" b="0" i="0">
                <a:solidFill>
                  <a:srgbClr val="181818"/>
                </a:solidFill>
                <a:latin typeface="Calibri"/>
              </a:rPr>
              <a:t>), já apontando para o backend na nuvem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14205E"/>
                </a:solidFill>
                <a:latin typeface="Georgia"/>
              </a:rPr>
              <a:t>Metodologia de Avaliação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256032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6B76"/>
                </a:solidFill>
                <a:latin typeface="Calibri"/>
              </a:rPr>
              <a:t>Outubro de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6B76"/>
                </a:solidFill>
                <a:latin typeface="Calibr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911535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2000"/>
              </a:spcAft>
            </a:pPr>
            <a:r>
              <a:rPr sz="1800" b="0" i="0">
                <a:solidFill>
                  <a:srgbClr val="181818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181818"/>
                </a:solidFill>
                <a:latin typeface="Calibri"/>
              </a:rPr>
              <a:t>Particionamento treino/teste (80/20) e validação cruzada 5-fold feitos </a:t>
            </a:r>
            <a:r>
              <a:rPr sz="1800" b="1" i="0">
                <a:solidFill>
                  <a:srgbClr val="181818"/>
                </a:solidFill>
                <a:latin typeface="Calibri"/>
              </a:rPr>
              <a:t>por quadro</a:t>
            </a:r>
            <a:r>
              <a:rPr sz="1800" b="0" i="0">
                <a:solidFill>
                  <a:srgbClr val="181818"/>
                </a:solidFill>
                <a:latin typeface="Calibri"/>
              </a:rPr>
              <a:t>, não por vídeo</a:t>
            </a:r>
          </a:p>
          <a:p>
            <a:pPr>
              <a:lnSpc>
                <a:spcPct val="108000"/>
              </a:lnSpc>
              <a:spcAft>
                <a:spcPts val="2000"/>
              </a:spcAft>
            </a:pPr>
            <a:r>
              <a:rPr sz="1800" b="0" i="0">
                <a:solidFill>
                  <a:srgbClr val="181818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181818"/>
                </a:solidFill>
                <a:latin typeface="Calibri"/>
              </a:rPr>
              <a:t>O identificador do vídeo de origem </a:t>
            </a:r>
            <a:r>
              <a:rPr sz="1800" b="1" i="0">
                <a:solidFill>
                  <a:srgbClr val="181818"/>
                </a:solidFill>
                <a:latin typeface="Calibri"/>
              </a:rPr>
              <a:t>não é preservado</a:t>
            </a:r>
            <a:r>
              <a:rPr sz="1800" b="0" i="0">
                <a:solidFill>
                  <a:srgbClr val="181818"/>
                </a:solidFill>
                <a:latin typeface="Calibri"/>
              </a:rPr>
              <a:t> no CSV — impossível garantir que quadros de um mesmo vídeo fiquem só de um lado da partição</a:t>
            </a:r>
          </a:p>
          <a:p>
            <a:pPr>
              <a:lnSpc>
                <a:spcPct val="108000"/>
              </a:lnSpc>
              <a:spcAft>
                <a:spcPts val="2000"/>
              </a:spcAft>
            </a:pPr>
            <a:r>
              <a:rPr sz="1800" b="0" i="0">
                <a:solidFill>
                  <a:srgbClr val="181818"/>
                </a:solidFill>
                <a:latin typeface="Calibri"/>
              </a:rPr>
              <a:t>•  </a:t>
            </a:r>
            <a:r>
              <a:rPr sz="1800" b="1" i="0">
                <a:solidFill>
                  <a:srgbClr val="181818"/>
                </a:solidFill>
                <a:latin typeface="Calibri"/>
              </a:rPr>
              <a:t>Métricas reportadas:</a:t>
            </a:r>
            <a:r>
              <a:rPr sz="1800" b="0" i="0">
                <a:solidFill>
                  <a:srgbClr val="181818"/>
                </a:solidFill>
                <a:latin typeface="Calibri"/>
              </a:rPr>
              <a:t> acurácia (teste + validação cruzada) para os dois exercícios; F1 macro (validação cruzada) adicional na rosca bíceps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14205E"/>
                </a:solidFill>
                <a:latin typeface="Georgia"/>
              </a:rPr>
              <a:t>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256032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6B76"/>
                </a:solidFill>
                <a:latin typeface="Calibri"/>
              </a:rPr>
              <a:t>Outubro de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6B76"/>
                </a:solidFill>
                <a:latin typeface="Calibr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700" b="0" i="0">
                <a:solidFill>
                  <a:srgbClr val="181818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181818"/>
                </a:solidFill>
                <a:latin typeface="Calibri"/>
              </a:rPr>
              <a:t>Sistema completo implantado e funcional, testado a partir de um </a:t>
            </a:r>
            <a:r>
              <a:rPr sz="1700" b="0" i="1">
                <a:solidFill>
                  <a:srgbClr val="181818"/>
                </a:solidFill>
                <a:latin typeface="Calibri"/>
              </a:rPr>
              <a:t>build</a:t>
            </a:r>
            <a:r>
              <a:rPr sz="1700" b="0" i="0">
                <a:solidFill>
                  <a:srgbClr val="181818"/>
                </a:solidFill>
                <a:latin typeface="Calibri"/>
              </a:rPr>
              <a:t> Android real, fora do ambiente de desenvolvimento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743200"/>
          <a:ext cx="108813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651760"/>
                <a:gridCol w="3017520"/>
                <a:gridCol w="2468880"/>
              </a:tblGrid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14205E"/>
                          </a:solidFill>
                          <a:latin typeface="Calibri"/>
                        </a:rPr>
                        <a:t>Exercício</a:t>
                      </a:r>
                    </a:p>
                  </a:txBody>
                  <a:tcPr marL="76200" marR="76200" marT="50800" marB="50800" anchor="ctr">
                    <a:solidFill>
                      <a:srgbClr val="DDD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14205E"/>
                          </a:solidFill>
                          <a:latin typeface="Calibri"/>
                        </a:rPr>
                        <a:t>Acurácia (teste)</a:t>
                      </a:r>
                    </a:p>
                  </a:txBody>
                  <a:tcPr marL="76200" marR="76200" marT="50800" marB="50800" anchor="ctr">
                    <a:solidFill>
                      <a:srgbClr val="DDD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14205E"/>
                          </a:solidFill>
                          <a:latin typeface="Calibri"/>
                        </a:rPr>
                        <a:t>Validação Cruzada</a:t>
                      </a:r>
                    </a:p>
                  </a:txBody>
                  <a:tcPr marL="76200" marR="76200" marT="50800" marB="50800" anchor="ctr">
                    <a:solidFill>
                      <a:srgbClr val="DDD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14205E"/>
                          </a:solidFill>
                          <a:latin typeface="Calibri"/>
                        </a:rPr>
                        <a:t>Modelo</a:t>
                      </a:r>
                    </a:p>
                  </a:txBody>
                  <a:tcPr marL="76200" marR="76200" marT="50800" marB="50800" anchor="ctr">
                    <a:solidFill>
                      <a:srgbClr val="DDDFE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50" b="0" i="0">
                          <a:solidFill>
                            <a:srgbClr val="181818"/>
                          </a:solidFill>
                          <a:latin typeface="Calibri"/>
                        </a:rPr>
                        <a:t>Elevação Frontal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 i="0">
                          <a:solidFill>
                            <a:srgbClr val="181818"/>
                          </a:solidFill>
                          <a:latin typeface="Calibri"/>
                        </a:rPr>
                        <a:t>79%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 i="0">
                          <a:solidFill>
                            <a:srgbClr val="181818"/>
                          </a:solidFill>
                          <a:latin typeface="Calibri"/>
                        </a:rPr>
                        <a:t>83% ± 3% (acurácia)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 i="0">
                          <a:solidFill>
                            <a:srgbClr val="181818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50" b="0" i="0">
                          <a:solidFill>
                            <a:srgbClr val="181818"/>
                          </a:solidFill>
                          <a:latin typeface="Calibri"/>
                        </a:rPr>
                        <a:t>Rosca Bíceps</a:t>
                      </a:r>
                    </a:p>
                  </a:txBody>
                  <a:tcPr marL="76200" marR="76200" marT="50800" marB="50800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 i="0">
                          <a:solidFill>
                            <a:srgbClr val="181818"/>
                          </a:solidFill>
                          <a:latin typeface="Calibri"/>
                        </a:rPr>
                        <a:t>85%</a:t>
                      </a:r>
                    </a:p>
                  </a:txBody>
                  <a:tcPr marL="76200" marR="76200" marT="50800" marB="50800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 i="0">
                          <a:solidFill>
                            <a:srgbClr val="181818"/>
                          </a:solidFill>
                          <a:latin typeface="Calibri"/>
                        </a:rPr>
                        <a:t>F1 macro 0,85</a:t>
                      </a:r>
                    </a:p>
                  </a:txBody>
                  <a:tcPr marL="76200" marR="76200" marT="50800" marB="50800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 i="0">
                          <a:solidFill>
                            <a:srgbClr val="181818"/>
                          </a:solidFill>
                          <a:latin typeface="Calibri"/>
                        </a:rPr>
                        <a:t>SVM (kernel RBF)</a:t>
                      </a:r>
                    </a:p>
                  </a:txBody>
                  <a:tcPr marL="76200" marR="76200" marT="50800" marB="50800" anchor="ctr">
                    <a:solidFill>
                      <a:srgbClr val="F6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14205E"/>
                </a:solidFill>
                <a:latin typeface="Georgia"/>
              </a:rPr>
              <a:t>Limitações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256032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6B76"/>
                </a:solidFill>
                <a:latin typeface="Calibri"/>
              </a:rPr>
              <a:t>Outubro de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6B76"/>
                </a:solidFill>
                <a:latin typeface="Calibri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911535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50" b="0" i="0">
                <a:solidFill>
                  <a:srgbClr val="181818"/>
                </a:solidFill>
                <a:latin typeface="Calibri"/>
              </a:rPr>
              <a:t>•  </a:t>
            </a:r>
            <a:r>
              <a:rPr sz="1550" b="0" i="0">
                <a:solidFill>
                  <a:srgbClr val="181818"/>
                </a:solidFill>
                <a:latin typeface="Calibri"/>
              </a:rPr>
              <a:t>Acurácias são um </a:t>
            </a:r>
            <a:r>
              <a:rPr sz="1550" b="1" i="0">
                <a:solidFill>
                  <a:srgbClr val="181818"/>
                </a:solidFill>
                <a:latin typeface="Calibri"/>
              </a:rPr>
              <a:t>limite superior otimista</a:t>
            </a:r>
            <a:r>
              <a:rPr sz="1550" b="0" i="0">
                <a:solidFill>
                  <a:srgbClr val="181818"/>
                </a:solidFill>
                <a:latin typeface="Calibri"/>
              </a:rPr>
              <a:t>: </a:t>
            </a:r>
            <a:r>
              <a:rPr sz="1550" b="0" i="1">
                <a:solidFill>
                  <a:srgbClr val="181818"/>
                </a:solidFill>
                <a:latin typeface="Calibri"/>
              </a:rPr>
              <a:t>split</a:t>
            </a:r>
            <a:r>
              <a:rPr sz="1550" b="0" i="0">
                <a:solidFill>
                  <a:srgbClr val="181818"/>
                </a:solidFill>
                <a:latin typeface="Calibri"/>
              </a:rPr>
              <a:t> por quadro (não por vídeo) provavelmente vaza entre treino e teste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50" b="0" i="0">
                <a:solidFill>
                  <a:srgbClr val="181818"/>
                </a:solidFill>
                <a:latin typeface="Calibri"/>
              </a:rPr>
              <a:t>•  </a:t>
            </a:r>
            <a:r>
              <a:rPr sz="1550" b="1" i="0">
                <a:solidFill>
                  <a:srgbClr val="181818"/>
                </a:solidFill>
                <a:latin typeface="Calibri"/>
              </a:rPr>
              <a:t>Mecanismo causal central:</a:t>
            </a:r>
            <a:r>
              <a:rPr sz="1550" b="0" i="0">
                <a:solidFill>
                  <a:srgbClr val="181818"/>
                </a:solidFill>
                <a:latin typeface="Calibri"/>
              </a:rPr>
              <a:t> a inferência sempre classifica o quadro de maior amplitude da repetição, mas o treino não seleciona picos — dataset cobre só até ~110°, execuções reais chegam a 172°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50" b="0" i="0">
                <a:solidFill>
                  <a:srgbClr val="181818"/>
                </a:solidFill>
                <a:latin typeface="Calibri"/>
              </a:rPr>
              <a:t>•  </a:t>
            </a:r>
            <a:r>
              <a:rPr sz="1550" b="0" i="0">
                <a:solidFill>
                  <a:srgbClr val="181818"/>
                </a:solidFill>
                <a:latin typeface="Calibri"/>
              </a:rPr>
              <a:t>Observação preliminar </a:t>
            </a:r>
            <a:r>
              <a:rPr sz="1550" b="1" i="0">
                <a:solidFill>
                  <a:srgbClr val="181818"/>
                </a:solidFill>
                <a:latin typeface="Calibri"/>
              </a:rPr>
              <a:t>não controlada</a:t>
            </a:r>
            <a:r>
              <a:rPr sz="1550" b="0" i="0">
                <a:solidFill>
                  <a:srgbClr val="181818"/>
                </a:solidFill>
                <a:latin typeface="Calibri"/>
              </a:rPr>
              <a:t>: câmera operada por terceiro erra mais que autorregistro (plausibilidade externa em Aguilar-Ortega et al., 2023)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50" b="0" i="0">
                <a:solidFill>
                  <a:srgbClr val="181818"/>
                </a:solidFill>
                <a:latin typeface="Calibri"/>
              </a:rPr>
              <a:t>•  </a:t>
            </a:r>
            <a:r>
              <a:rPr sz="1550" b="0" i="0">
                <a:solidFill>
                  <a:srgbClr val="181818"/>
                </a:solidFill>
                <a:latin typeface="Calibri"/>
              </a:rPr>
              <a:t>Descasamento de limiar de repouso na rosca bíceps (155° na curadoria do dataset vs. 130° em produção)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50" b="0" i="0">
                <a:solidFill>
                  <a:srgbClr val="181818"/>
                </a:solidFill>
                <a:latin typeface="Calibri"/>
              </a:rPr>
              <a:t>•  </a:t>
            </a:r>
            <a:r>
              <a:rPr sz="1550" b="0" i="0">
                <a:solidFill>
                  <a:srgbClr val="181818"/>
                </a:solidFill>
                <a:latin typeface="Calibri"/>
              </a:rPr>
              <a:t>Sem matriz de confusão nem métricas por classe; dataset da rosca bíceps desbalanceado (465/693)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50" b="0" i="0">
                <a:solidFill>
                  <a:srgbClr val="181818"/>
                </a:solidFill>
                <a:latin typeface="Calibri"/>
              </a:rPr>
              <a:t>•  </a:t>
            </a:r>
            <a:r>
              <a:rPr sz="1550" b="0" i="0">
                <a:solidFill>
                  <a:srgbClr val="181818"/>
                </a:solidFill>
                <a:latin typeface="Calibri"/>
              </a:rPr>
              <a:t>Segmentação de repetições (detecção de repouso) nunca avaliada isoladamente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14205E"/>
                </a:solidFill>
                <a:latin typeface="Georgia"/>
              </a:rPr>
              <a:t>Trabalhos Futuros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256032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6B76"/>
                </a:solidFill>
                <a:latin typeface="Calibri"/>
              </a:rPr>
              <a:t>Outubro de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6B76"/>
                </a:solidFill>
                <a:latin typeface="Calibri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911535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700" b="0" i="0">
                <a:solidFill>
                  <a:srgbClr val="181818"/>
                </a:solidFill>
                <a:latin typeface="Calibri"/>
              </a:rPr>
              <a:t>•  </a:t>
            </a:r>
            <a:r>
              <a:rPr sz="1700" b="1" i="0">
                <a:solidFill>
                  <a:srgbClr val="181818"/>
                </a:solidFill>
                <a:latin typeface="Calibri"/>
              </a:rPr>
              <a:t>Metodologia de avaliação:</a:t>
            </a:r>
            <a:r>
              <a:rPr sz="1700" b="0" i="0">
                <a:solidFill>
                  <a:srgbClr val="181818"/>
                </a:solidFill>
                <a:latin typeface="Calibri"/>
              </a:rPr>
              <a:t> particionamento por vídeo (GroupKFold); alinhar amostragem de treino ao quadro de pico; unificar limiares de repouso; avaliar a segmentação de repetições; métricas por classe e matriz de confusão; experimento controlado de posicionamento de câmera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700" b="0" i="0">
                <a:solidFill>
                  <a:srgbClr val="181818"/>
                </a:solidFill>
                <a:latin typeface="Calibri"/>
              </a:rPr>
              <a:t>•  </a:t>
            </a:r>
            <a:r>
              <a:rPr sz="1700" b="1" i="0">
                <a:solidFill>
                  <a:srgbClr val="181818"/>
                </a:solidFill>
                <a:latin typeface="Calibri"/>
              </a:rPr>
              <a:t>Dados e modelo:</a:t>
            </a:r>
            <a:r>
              <a:rPr sz="1700" b="0" i="0">
                <a:solidFill>
                  <a:srgbClr val="181818"/>
                </a:solidFill>
                <a:latin typeface="Calibri"/>
              </a:rPr>
              <a:t> ampliar o dataset com vídeos próprios (amplitude + posicionamento de câmera); extrair dataset direto do MediaPipe, unificando o estimador usado em treino e produção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700" b="0" i="0">
                <a:solidFill>
                  <a:srgbClr val="181818"/>
                </a:solidFill>
                <a:latin typeface="Calibri"/>
              </a:rPr>
              <a:t>•  </a:t>
            </a:r>
            <a:r>
              <a:rPr sz="1700" b="1" i="0">
                <a:solidFill>
                  <a:srgbClr val="181818"/>
                </a:solidFill>
                <a:latin typeface="Calibri"/>
              </a:rPr>
              <a:t>Produto:</a:t>
            </a:r>
            <a:r>
              <a:rPr sz="1700" b="0" i="0">
                <a:solidFill>
                  <a:srgbClr val="181818"/>
                </a:solidFill>
                <a:latin typeface="Calibri"/>
              </a:rPr>
              <a:t> novos exercícios; validação de usabilidade com um grupo maior de usuários reais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14205E"/>
                </a:solidFill>
                <a:latin typeface="Georgia"/>
              </a:rPr>
              <a:t>Conclusão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256032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6B76"/>
                </a:solidFill>
                <a:latin typeface="Calibri"/>
              </a:rPr>
              <a:t>Outubro de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6B76"/>
                </a:solidFill>
                <a:latin typeface="Calibri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911535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2000"/>
              </a:spcAft>
            </a:pPr>
            <a:r>
              <a:rPr sz="1800" b="0" i="0">
                <a:solidFill>
                  <a:srgbClr val="181818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181818"/>
                </a:solidFill>
                <a:latin typeface="Calibri"/>
              </a:rPr>
              <a:t>App móvel completo de gerenciamento de treinos com um módulo de detecção da qualidade de execução baseado em estimativa de pose e aprendizado de máquina supervisionado</a:t>
            </a:r>
          </a:p>
          <a:p>
            <a:pPr>
              <a:lnSpc>
                <a:spcPct val="108000"/>
              </a:lnSpc>
              <a:spcAft>
                <a:spcPts val="2000"/>
              </a:spcAft>
            </a:pPr>
            <a:r>
              <a:rPr sz="1800" b="0" i="0">
                <a:solidFill>
                  <a:srgbClr val="181818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181818"/>
                </a:solidFill>
                <a:latin typeface="Calibri"/>
              </a:rPr>
              <a:t>Cobertura de ponta a ponta: da arquitetura do sistema até a implantação em um ambiente de nuvem real</a:t>
            </a:r>
          </a:p>
          <a:p>
            <a:pPr>
              <a:lnSpc>
                <a:spcPct val="108000"/>
              </a:lnSpc>
              <a:spcAft>
                <a:spcPts val="2000"/>
              </a:spcAft>
            </a:pPr>
            <a:r>
              <a:rPr sz="1800" b="0" i="0">
                <a:solidFill>
                  <a:srgbClr val="181818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181818"/>
                </a:solidFill>
                <a:latin typeface="Calibri"/>
              </a:rPr>
              <a:t>Principal lição do desenvolvimento: os maiores riscos técnicos não estão só na escolha do algoritmo de classificação, mas na </a:t>
            </a:r>
            <a:r>
              <a:rPr sz="1800" b="1" i="0">
                <a:solidFill>
                  <a:srgbClr val="181818"/>
                </a:solidFill>
                <a:latin typeface="Calibri"/>
              </a:rPr>
              <a:t>representatividade do dataset de treino</a:t>
            </a:r>
            <a:r>
              <a:rPr sz="1800" b="0" i="0">
                <a:solidFill>
                  <a:srgbClr val="181818"/>
                </a:solidFill>
                <a:latin typeface="Calibri"/>
              </a:rPr>
              <a:t> frente à variabilidade real de execução dos usuários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377440"/>
            <a:ext cx="996696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800" b="1" i="0">
                <a:solidFill>
                  <a:srgbClr val="14205E"/>
                </a:solidFill>
                <a:latin typeface="Georgia"/>
              </a:rPr>
              <a:t>Agradecimentos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566160"/>
            <a:ext cx="96012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800" b="0" i="0">
                <a:solidFill>
                  <a:srgbClr val="181818"/>
                </a:solidFill>
                <a:latin typeface="Calibri"/>
              </a:rPr>
              <a:t>Ao meu orientador, Prof. Antonio Paulo Salgado Forster, pela orientação ao longo do trabalho;</a:t>
            </a:r>
          </a:p>
          <a:p>
            <a:pPr>
              <a:spcAft>
                <a:spcPts val="1400"/>
              </a:spcAft>
            </a:pPr>
            <a:r>
              <a:rPr sz="1800" b="0" i="0">
                <a:solidFill>
                  <a:srgbClr val="181818"/>
                </a:solidFill>
                <a:latin typeface="Calibri"/>
              </a:rPr>
              <a:t>Aos professores e colegas que acompanharam o desenvolvimento deste projeto;</a:t>
            </a:r>
          </a:p>
          <a:p>
            <a:pPr>
              <a:spcAft>
                <a:spcPts val="1400"/>
              </a:spcAft>
            </a:pPr>
            <a:r>
              <a:rPr sz="1800" b="0" i="0">
                <a:solidFill>
                  <a:srgbClr val="181818"/>
                </a:solidFill>
                <a:latin typeface="Calibri"/>
              </a:rPr>
              <a:t>À minha família, pelo apoio constante.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5615" y="256032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6B76"/>
                </a:solidFill>
                <a:latin typeface="Calibri"/>
              </a:rPr>
              <a:t>Outubro de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6B76"/>
                </a:solidFill>
                <a:latin typeface="Calibri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8521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200" b="1" i="0">
                <a:solidFill>
                  <a:srgbClr val="1A1F9C"/>
                </a:solidFill>
                <a:latin typeface="Calibri"/>
              </a:rPr>
              <a:t>Obrigado! Perguntas?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