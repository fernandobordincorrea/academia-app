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A0A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320040" y="1097280"/>
            <a:ext cx="64008" cy="4023360"/>
          </a:xfrm>
          <a:prstGeom prst="rect">
            <a:avLst/>
          </a:prstGeom>
          <a:solidFill>
            <a:srgbClr val="4C9BE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02920" y="118872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ACADEMIA APP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02920" y="2194560"/>
            <a:ext cx="5669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Gerenciamento de treinos com detecção</a:t>
            </a:r>
            <a:br>
              <a:rPr b="0" i="0" lang="en-US" sz="1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 exercícios por Inteligência Artificial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02920" y="51206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Fernando Correa  ·  2026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7132320" y="2286000"/>
            <a:ext cx="4114800" cy="502920"/>
          </a:xfrm>
          <a:prstGeom prst="rect">
            <a:avLst/>
          </a:prstGeom>
          <a:solidFill>
            <a:srgbClr val="1E1E32"/>
          </a:solidFill>
          <a:ln cap="flat" cmpd="sng" w="15225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315200" y="23774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React Native / Expo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7132320" y="2944368"/>
            <a:ext cx="4114800" cy="502920"/>
          </a:xfrm>
          <a:prstGeom prst="rect">
            <a:avLst/>
          </a:prstGeom>
          <a:solidFill>
            <a:srgbClr val="1E1E32"/>
          </a:solidFill>
          <a:ln cap="flat" cmpd="sng" w="1522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315200" y="303580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FastAPI + SQLite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7132320" y="3602736"/>
            <a:ext cx="4114800" cy="502920"/>
          </a:xfrm>
          <a:prstGeom prst="rect">
            <a:avLst/>
          </a:prstGeom>
          <a:solidFill>
            <a:srgbClr val="1E1E32"/>
          </a:solidFill>
          <a:ln cap="flat" cmpd="sng" w="15225">
            <a:solidFill>
              <a:srgbClr val="E87C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315200" y="369417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7C4C"/>
                </a:solidFill>
                <a:latin typeface="Calibri"/>
                <a:ea typeface="Calibri"/>
                <a:cs typeface="Calibri"/>
                <a:sym typeface="Calibri"/>
              </a:rPr>
              <a:t>MediaPipe + scikit-learn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7132320" y="4261104"/>
            <a:ext cx="4114800" cy="502920"/>
          </a:xfrm>
          <a:prstGeom prst="rect">
            <a:avLst/>
          </a:prstGeom>
          <a:solidFill>
            <a:srgbClr val="1E1E32"/>
          </a:solidFill>
          <a:ln cap="flat" cmpd="sng" w="15225">
            <a:solidFill>
              <a:srgbClr val="B86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315200" y="435254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86CE8"/>
                </a:solidFill>
                <a:latin typeface="Calibri"/>
                <a:ea typeface="Calibri"/>
                <a:cs typeface="Calibri"/>
                <a:sym typeface="Calibri"/>
              </a:rPr>
              <a:t>EAS Build (APK)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E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365760" y="502920"/>
            <a:ext cx="11430000" cy="36576"/>
          </a:xfrm>
          <a:prstGeom prst="rect">
            <a:avLst/>
          </a:prstGeom>
          <a:solidFill>
            <a:srgbClr val="4C9BE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 do Projeto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365760" y="731520"/>
            <a:ext cx="5394960" cy="246888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02920" y="82296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7C4C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02920" y="1143000"/>
            <a:ext cx="5120700" cy="1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Acompanhar treinos manualmente é trabalhoso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Execução incorreta de exercícios podem levar a lesões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Personal trainer tem um custo elevado e disponibilidade limitada a horários agendados.</a:t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035040" y="731520"/>
            <a:ext cx="5806440" cy="246888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172200" y="822960"/>
            <a:ext cx="5532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SOLUÇÃO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172200" y="1143000"/>
            <a:ext cx="5532000" cy="12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App mobile para registro completo de treinos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Detector de exercícios via câmera com IA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Feedback por repetição: correto / incorreto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Histórico, calendário e estatísticas de sessão</a:t>
            </a:r>
            <a:endParaRPr sz="1700"/>
          </a:p>
        </p:txBody>
      </p:sp>
      <p:sp>
        <p:nvSpPr>
          <p:cNvPr id="109" name="Google Shape;109;p14"/>
          <p:cNvSpPr/>
          <p:nvPr/>
        </p:nvSpPr>
        <p:spPr>
          <a:xfrm>
            <a:off x="365760" y="3337560"/>
            <a:ext cx="11430000" cy="27432"/>
          </a:xfrm>
          <a:prstGeom prst="rect">
            <a:avLst/>
          </a:prstGeom>
          <a:solidFill>
            <a:srgbClr val="4C9BE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365760" y="3429000"/>
            <a:ext cx="1097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Funcionalidades do </a:t>
            </a:r>
            <a:r>
              <a:rPr b="1" lang="en-US" sz="1500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projeto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365760" y="3886200"/>
            <a:ext cx="3749039" cy="123444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502920" y="3977640"/>
            <a:ext cx="347471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Autenticação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502920" y="4297680"/>
            <a:ext cx="347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Cadastro + login</a:t>
            </a:r>
            <a:b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JWT com expiração</a:t>
            </a:r>
            <a:endParaRPr sz="1700"/>
          </a:p>
        </p:txBody>
      </p:sp>
      <p:sp>
        <p:nvSpPr>
          <p:cNvPr id="114" name="Google Shape;114;p14"/>
          <p:cNvSpPr/>
          <p:nvPr/>
        </p:nvSpPr>
        <p:spPr>
          <a:xfrm>
            <a:off x="4297680" y="3886200"/>
            <a:ext cx="3749039" cy="123444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4434840" y="3977640"/>
            <a:ext cx="347471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4434840" y="4297680"/>
            <a:ext cx="347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CRUD de exercícios</a:t>
            </a:r>
            <a:b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com categorias</a:t>
            </a:r>
            <a:endParaRPr sz="1700"/>
          </a:p>
        </p:txBody>
      </p:sp>
      <p:sp>
        <p:nvSpPr>
          <p:cNvPr id="117" name="Google Shape;117;p14"/>
          <p:cNvSpPr/>
          <p:nvPr/>
        </p:nvSpPr>
        <p:spPr>
          <a:xfrm>
            <a:off x="8229600" y="3886200"/>
            <a:ext cx="3749039" cy="123444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366760" y="3977640"/>
            <a:ext cx="347471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Treinos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366760" y="4297680"/>
            <a:ext cx="347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Montagem de treinos</a:t>
            </a:r>
            <a:b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com séries/repetições</a:t>
            </a:r>
            <a:endParaRPr sz="1700"/>
          </a:p>
        </p:txBody>
      </p:sp>
      <p:sp>
        <p:nvSpPr>
          <p:cNvPr id="120" name="Google Shape;120;p14"/>
          <p:cNvSpPr/>
          <p:nvPr/>
        </p:nvSpPr>
        <p:spPr>
          <a:xfrm>
            <a:off x="365760" y="5257800"/>
            <a:ext cx="3749039" cy="123444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502920" y="5349240"/>
            <a:ext cx="347471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Sessão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502920" y="5669280"/>
            <a:ext cx="347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Timer + calorias</a:t>
            </a:r>
            <a:b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estimadas em tempo real</a:t>
            </a:r>
            <a:endParaRPr sz="1700"/>
          </a:p>
        </p:txBody>
      </p:sp>
      <p:sp>
        <p:nvSpPr>
          <p:cNvPr id="123" name="Google Shape;123;p14"/>
          <p:cNvSpPr/>
          <p:nvPr/>
        </p:nvSpPr>
        <p:spPr>
          <a:xfrm>
            <a:off x="4297680" y="5257800"/>
            <a:ext cx="3749039" cy="123444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4434840" y="5349240"/>
            <a:ext cx="347471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Calendário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4434840" y="5669280"/>
            <a:ext cx="347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Histórico visual</a:t>
            </a:r>
            <a:b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 treinos realizados</a:t>
            </a:r>
            <a:endParaRPr sz="1700"/>
          </a:p>
        </p:txBody>
      </p:sp>
      <p:sp>
        <p:nvSpPr>
          <p:cNvPr id="126" name="Google Shape;126;p14"/>
          <p:cNvSpPr/>
          <p:nvPr/>
        </p:nvSpPr>
        <p:spPr>
          <a:xfrm>
            <a:off x="8229600" y="5257800"/>
            <a:ext cx="3749039" cy="123444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366760" y="5349240"/>
            <a:ext cx="347471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Detector IA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8366760" y="5669280"/>
            <a:ext cx="347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Conta reps e avalia</a:t>
            </a:r>
            <a:b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cada repetição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365760" y="502920"/>
            <a:ext cx="11430000" cy="36576"/>
          </a:xfrm>
          <a:prstGeom prst="rect">
            <a:avLst/>
          </a:prstGeom>
          <a:solidFill>
            <a:srgbClr val="4C9BE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Documentação — Cronograma</a:t>
            </a:r>
            <a:endParaRPr/>
          </a:p>
        </p:txBody>
      </p:sp>
      <p:pic>
        <p:nvPicPr>
          <p:cNvPr descr="cronograma.jpg" id="135" name="Google Shape;13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685800"/>
            <a:ext cx="11430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/>
          <p:nvPr/>
        </p:nvSpPr>
        <p:spPr>
          <a:xfrm>
            <a:off x="365760" y="5943600"/>
            <a:ext cx="2194560" cy="45720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457200" y="596188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E1–E3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457200" y="619963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Setup + Auth + Exercícios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2715768" y="5943600"/>
            <a:ext cx="2194560" cy="45720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2807208" y="596188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E4–E5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2807208" y="619963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Treinos + Sessões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5065776" y="5943600"/>
            <a:ext cx="2194560" cy="45720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5157216" y="596188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E6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5157216" y="619963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Detector IA (concluído)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7415783" y="5943600"/>
            <a:ext cx="2194560" cy="45720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E8C0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7507223" y="596188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C04C"/>
                </a:solidFill>
                <a:latin typeface="Calibri"/>
                <a:ea typeface="Calibri"/>
                <a:cs typeface="Calibri"/>
                <a:sym typeface="Calibri"/>
              </a:rPr>
              <a:t>E7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7507223" y="619963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Build APK ← atual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9765792" y="5943600"/>
            <a:ext cx="2194560" cy="45720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9857232" y="596188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E8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9857232" y="619963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Deploy Azure (próximo)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/>
          <p:nvPr/>
        </p:nvSpPr>
        <p:spPr>
          <a:xfrm>
            <a:off x="365760" y="502920"/>
            <a:ext cx="11430000" cy="36576"/>
          </a:xfrm>
          <a:prstGeom prst="rect">
            <a:avLst/>
          </a:prstGeom>
          <a:solidFill>
            <a:srgbClr val="4C9BE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Documentação — WBS (Work Breakdown Structure)</a:t>
            </a:r>
            <a:endParaRPr/>
          </a:p>
        </p:txBody>
      </p:sp>
      <p:pic>
        <p:nvPicPr>
          <p:cNvPr id="157" name="Google Shape;157;p16" title="wbs.jpg"/>
          <p:cNvPicPr preferRelativeResize="0"/>
          <p:nvPr/>
        </p:nvPicPr>
        <p:blipFill rotWithShape="1">
          <a:blip r:embed="rId3">
            <a:alphaModFix/>
          </a:blip>
          <a:srcRect b="0" l="1172" r="1172" t="0"/>
          <a:stretch/>
        </p:blipFill>
        <p:spPr>
          <a:xfrm>
            <a:off x="365760" y="685800"/>
            <a:ext cx="11430001" cy="59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E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/>
          <p:nvPr/>
        </p:nvSpPr>
        <p:spPr>
          <a:xfrm>
            <a:off x="365760" y="502920"/>
            <a:ext cx="11430000" cy="36576"/>
          </a:xfrm>
          <a:prstGeom prst="rect">
            <a:avLst/>
          </a:prstGeom>
          <a:solidFill>
            <a:srgbClr val="4C9BE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Documentação — Diagrama de Casos de Uso</a:t>
            </a:r>
            <a:endParaRPr/>
          </a:p>
        </p:txBody>
      </p:sp>
      <p:pic>
        <p:nvPicPr>
          <p:cNvPr descr="diagrama_use_cases.jp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685800"/>
            <a:ext cx="11430000" cy="59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E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365760" y="502920"/>
            <a:ext cx="11430000" cy="36576"/>
          </a:xfrm>
          <a:prstGeom prst="rect">
            <a:avLst/>
          </a:prstGeom>
          <a:solidFill>
            <a:srgbClr val="4C9BE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Arquitetura Técnica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365760" y="777240"/>
            <a:ext cx="3383280" cy="539496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02920" y="8686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MOBILE  (React Native / Expo)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02920" y="1188720"/>
            <a:ext cx="3108900" cy="45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Expo SDK 54 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+ EAS Build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Telas: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Auth (Login / Registro)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Home Dashboard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Exercícios </a:t>
            </a: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Treinos (CRUD)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Sessão com timer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Calendário de histórico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Detector (Fluxo em 6 </a:t>
            </a: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etapas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):</a:t>
            </a:r>
            <a:b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	idle</a:t>
            </a:r>
            <a:endParaRPr b="0" i="0" sz="17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	countdown</a:t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	recording</a:t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	processing</a:t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	results</a:t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	error</a:t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3886200" y="2743200"/>
            <a:ext cx="822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br>
              <a:rPr b="1" i="0" lang="en-US" sz="13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br>
              <a:rPr b="1" i="0" lang="en-US" sz="13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4754876" y="777250"/>
            <a:ext cx="3108900" cy="539490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4892040" y="868680"/>
            <a:ext cx="347471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BACKEND  (FastAPI / Python)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892050" y="1188725"/>
            <a:ext cx="30612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Uvicorn + SQLite + SQLAlchemy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Alembic </a:t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Rotas: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POST /auth/login · /auth/register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CRUD /exercises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CRUD /workouts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POST /sessions · GET /sessions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POST /detector/analyze</a:t>
            </a:r>
            <a:endParaRPr b="0" i="0" sz="17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Auth: JWT (python-jose + bcrypt)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ML Pipeline</a:t>
            </a: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para a analise do exercicio</a:t>
            </a:r>
            <a:endParaRPr sz="1700"/>
          </a:p>
        </p:txBody>
      </p:sp>
      <p:sp>
        <p:nvSpPr>
          <p:cNvPr id="178" name="Google Shape;178;p18"/>
          <p:cNvSpPr/>
          <p:nvPr/>
        </p:nvSpPr>
        <p:spPr>
          <a:xfrm>
            <a:off x="8219375" y="777250"/>
            <a:ext cx="3667800" cy="539490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8366849" y="868675"/>
            <a:ext cx="338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7C4C"/>
                </a:solidFill>
                <a:latin typeface="Calibri"/>
                <a:ea typeface="Calibri"/>
                <a:cs typeface="Calibri"/>
                <a:sym typeface="Calibri"/>
              </a:rPr>
              <a:t>MODELO </a:t>
            </a:r>
            <a:r>
              <a:rPr b="1" lang="en-US">
                <a:solidFill>
                  <a:srgbClr val="E87C4C"/>
                </a:solidFill>
                <a:latin typeface="Calibri"/>
                <a:ea typeface="Calibri"/>
                <a:cs typeface="Calibri"/>
                <a:sym typeface="Calibri"/>
              </a:rPr>
              <a:t>DE CLASSIFICAÇÃO 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321725" y="1188725"/>
            <a:ext cx="34284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Elevação Frontal</a:t>
            </a:r>
            <a:endParaRPr b="0" i="0" sz="17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Dataset: vídeos laterais</a:t>
            </a:r>
            <a:endParaRPr b="0" i="0" sz="17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Features (7):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ang_braco_esq/dir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ang_cotovelo_esq/dir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altura_punho_esq/dir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simetria_braco</a:t>
            </a:r>
            <a:endParaRPr b="0" i="0" sz="17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Rosca Direta</a:t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Dataset: vídeos laterais</a:t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Features (3):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angulo_cotovelo    angulo_braco</a:t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altura_punho</a:t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Algoritmo: Random Forest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E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/>
          <p:nvPr/>
        </p:nvSpPr>
        <p:spPr>
          <a:xfrm>
            <a:off x="365760" y="502920"/>
            <a:ext cx="11430000" cy="36576"/>
          </a:xfrm>
          <a:prstGeom prst="rect">
            <a:avLst/>
          </a:prstGeom>
          <a:solidFill>
            <a:srgbClr val="4C9BE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Metodologia de Desenvolvimento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365760" y="777240"/>
            <a:ext cx="4572000" cy="539496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502920" y="86868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502920" y="1188720"/>
            <a:ext cx="4297800" cy="3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Desenvolvimento iterativo por etapas (E1–E8),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com branch por feature e merge na main.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Cada etapa entrega funcionalidade completa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 testável antes de avançar.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GIT flow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main ← base estável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Detector_app ← IA (mergeada)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Build_APK ← atual (E7)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Endpoints validados via Swagger /docs antes da integração com o mobile</a:t>
            </a:r>
            <a:endParaRPr sz="1700"/>
          </a:p>
        </p:txBody>
      </p:sp>
      <p:sp>
        <p:nvSpPr>
          <p:cNvPr id="190" name="Google Shape;190;p19"/>
          <p:cNvSpPr/>
          <p:nvPr/>
        </p:nvSpPr>
        <p:spPr>
          <a:xfrm>
            <a:off x="5120640" y="777240"/>
            <a:ext cx="6720840" cy="246888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5257800" y="868680"/>
            <a:ext cx="6446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C9BE8"/>
                </a:solidFill>
                <a:latin typeface="Calibri"/>
                <a:ea typeface="Calibri"/>
                <a:cs typeface="Calibri"/>
                <a:sym typeface="Calibri"/>
              </a:rPr>
              <a:t>DECISÕES DE ARQUITETURA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5257800" y="1188720"/>
            <a:ext cx="6446400" cy="1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SQLite em vez de PostgreSQL: simplicidade de setup</a:t>
            </a:r>
            <a:endParaRPr b="0" i="0" sz="17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Gravação de vídeo em vez de WebSocket: latência de rede causava 1-2fps efetivos, o que</a:t>
            </a:r>
            <a:r>
              <a:rPr lang="en-US" sz="1700"/>
              <a:t> 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inviabili</a:t>
            </a: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za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a detecção em tempo real</a:t>
            </a: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análise offline resolv</a:t>
            </a: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 o problema.</a:t>
            </a:r>
            <a:endParaRPr sz="1700"/>
          </a:p>
        </p:txBody>
      </p:sp>
      <p:sp>
        <p:nvSpPr>
          <p:cNvPr id="193" name="Google Shape;193;p19"/>
          <p:cNvSpPr/>
          <p:nvPr/>
        </p:nvSpPr>
        <p:spPr>
          <a:xfrm>
            <a:off x="5120640" y="3429000"/>
            <a:ext cx="6720840" cy="269748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5257800" y="3520440"/>
            <a:ext cx="6446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7C4C"/>
                </a:solidFill>
                <a:latin typeface="Calibri"/>
                <a:ea typeface="Calibri"/>
                <a:cs typeface="Calibri"/>
                <a:sym typeface="Calibri"/>
              </a:rPr>
              <a:t>PROBLEMAS TÉCNICOS RELEVANTES RESOLVIDOS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5257800" y="3840480"/>
            <a:ext cx="64464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Race condition ao parar gravação → CameraView desmontava antes do arquivo fechar</a:t>
            </a:r>
            <a:endParaRPr b="0" i="0" sz="17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Movimento de alcançar o botão </a:t>
            </a: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Parar</a:t>
            </a: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” contava 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como </a:t>
            </a: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repetição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→bloco removido no fim do vídeo</a:t>
            </a:r>
            <a:endParaRPr b="0" i="0" sz="17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E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/>
          <p:nvPr/>
        </p:nvSpPr>
        <p:spPr>
          <a:xfrm>
            <a:off x="365760" y="502920"/>
            <a:ext cx="11430000" cy="36576"/>
          </a:xfrm>
          <a:prstGeom prst="rect">
            <a:avLst/>
          </a:prstGeom>
          <a:solidFill>
            <a:srgbClr val="4C9BE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Estágio Atual &amp; Pontos em Desenvolvimento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365760" y="685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C04C"/>
                </a:solidFill>
                <a:latin typeface="Calibri"/>
                <a:ea typeface="Calibri"/>
                <a:cs typeface="Calibri"/>
                <a:sym typeface="Calibri"/>
              </a:rPr>
              <a:t>E7 — Build APK  (em andamento)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365760" y="1143000"/>
            <a:ext cx="5486400" cy="256032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02920" y="123444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CONCLUÍDO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02920" y="1554480"/>
            <a:ext cx="5212200" cy="21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E1  Setup do projeto, estrutura de pastas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E2  Autenticação JWT (login / registro / logout)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E3  CRUD de exercícios e categorias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E4  Montagem e gerenciamento de treinos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E5  Sessões com timer, calorias, histórico, calendário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E6  Detector de exercício com IA</a:t>
            </a:r>
            <a:r>
              <a:rPr lang="en-US" sz="1700"/>
              <a:t> 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→ gravação, upload, análise ML, feedback por rep</a:t>
            </a:r>
            <a:endParaRPr sz="1700"/>
          </a:p>
        </p:txBody>
      </p:sp>
      <p:sp>
        <p:nvSpPr>
          <p:cNvPr id="206" name="Google Shape;206;p20"/>
          <p:cNvSpPr/>
          <p:nvPr/>
        </p:nvSpPr>
        <p:spPr>
          <a:xfrm>
            <a:off x="6035040" y="1143000"/>
            <a:ext cx="5806440" cy="256032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6172200" y="1234440"/>
            <a:ext cx="5532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C04C"/>
                </a:solidFill>
                <a:latin typeface="Calibri"/>
                <a:ea typeface="Calibri"/>
                <a:cs typeface="Calibri"/>
                <a:sym typeface="Calibri"/>
              </a:rPr>
              <a:t>EM DESENVOLVIMENTO / PENDENTE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172200" y="1554480"/>
            <a:ext cx="5532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E7:  Build APK para android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E8 :</a:t>
            </a:r>
            <a:r>
              <a:rPr lang="en-US" sz="1700"/>
              <a:t> 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Deploy do backend </a:t>
            </a: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Azure e</a:t>
            </a:r>
            <a:r>
              <a:rPr lang="en-US" sz="1700"/>
              <a:t> 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Teste end-to-end fora da rede local</a:t>
            </a:r>
            <a:endParaRPr sz="1700"/>
          </a:p>
        </p:txBody>
      </p:sp>
      <p:sp>
        <p:nvSpPr>
          <p:cNvPr id="209" name="Google Shape;209;p20"/>
          <p:cNvSpPr/>
          <p:nvPr/>
        </p:nvSpPr>
        <p:spPr>
          <a:xfrm>
            <a:off x="365760" y="3886200"/>
            <a:ext cx="11430000" cy="2560320"/>
          </a:xfrm>
          <a:prstGeom prst="rect">
            <a:avLst/>
          </a:prstGeom>
          <a:solidFill>
            <a:srgbClr val="1E1E32"/>
          </a:solidFill>
          <a:ln cap="flat" cmpd="sng" w="12700">
            <a:solidFill>
              <a:srgbClr val="4C9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02920" y="397764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LIMITAÇÕES CONHECIDAS &amp; TRABALHO FUTURO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502920" y="4297680"/>
            <a:ext cx="111558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Detector treinado com câmera lateral: de frente, coordenada Z não é capturada pelo MediaPipe 2D</a:t>
            </a: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o que </a:t>
            </a: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permite a deteccao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Backend roda localmente: APK atual depende de mesma rede Wi-Fi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iOS: não contemplado nesta fase do projeto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